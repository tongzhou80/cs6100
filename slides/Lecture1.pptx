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0"/>
  </p:notesMasterIdLst>
  <p:sldIdLst>
    <p:sldId id="256" r:id="rId2"/>
    <p:sldId id="257" r:id="rId3"/>
    <p:sldId id="277" r:id="rId4"/>
    <p:sldId id="258" r:id="rId5"/>
    <p:sldId id="260" r:id="rId6"/>
    <p:sldId id="259" r:id="rId7"/>
    <p:sldId id="262" r:id="rId8"/>
    <p:sldId id="263" r:id="rId9"/>
    <p:sldId id="278" r:id="rId10"/>
    <p:sldId id="264" r:id="rId11"/>
    <p:sldId id="266" r:id="rId12"/>
    <p:sldId id="267" r:id="rId13"/>
    <p:sldId id="279" r:id="rId14"/>
    <p:sldId id="287" r:id="rId15"/>
    <p:sldId id="286" r:id="rId16"/>
    <p:sldId id="280" r:id="rId17"/>
    <p:sldId id="281" r:id="rId18"/>
    <p:sldId id="282" r:id="rId19"/>
    <p:sldId id="288" r:id="rId20"/>
    <p:sldId id="290" r:id="rId21"/>
    <p:sldId id="276" r:id="rId22"/>
    <p:sldId id="285" r:id="rId23"/>
    <p:sldId id="269" r:id="rId24"/>
    <p:sldId id="270" r:id="rId25"/>
    <p:sldId id="283" r:id="rId26"/>
    <p:sldId id="291" r:id="rId27"/>
    <p:sldId id="292" r:id="rId28"/>
    <p:sldId id="293" r:id="rId29"/>
    <p:sldId id="294" r:id="rId30"/>
    <p:sldId id="295" r:id="rId31"/>
    <p:sldId id="296" r:id="rId32"/>
    <p:sldId id="297" r:id="rId33"/>
    <p:sldId id="298" r:id="rId34"/>
    <p:sldId id="300" r:id="rId35"/>
    <p:sldId id="301" r:id="rId36"/>
    <p:sldId id="303" r:id="rId37"/>
    <p:sldId id="304" r:id="rId38"/>
    <p:sldId id="289" r:id="rId3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931"/>
    <p:restoredTop sz="91892"/>
  </p:normalViewPr>
  <p:slideViewPr>
    <p:cSldViewPr snapToGrid="0">
      <p:cViewPr varScale="1">
        <p:scale>
          <a:sx n="130" d="100"/>
          <a:sy n="130" d="100"/>
        </p:scale>
        <p:origin x="224" y="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87D854A-D757-5C4C-A465-3201C554EB8D}" type="datetimeFigureOut">
              <a:rPr lang="en-US" smtClean="0"/>
              <a:t>8/10/25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0CDB674-9C07-4F43-9CB5-21BC013244C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522246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During the 1970s to 1990s, software engineering began to mature as a discipline.</a:t>
            </a:r>
          </a:p>
          <a:p>
            <a:r>
              <a:rPr lang="en-US" dirty="0"/>
              <a:t>First, </a:t>
            </a:r>
            <a:r>
              <a:rPr lang="en-US" b="1" dirty="0"/>
              <a:t>structured programming</a:t>
            </a:r>
            <a:r>
              <a:rPr lang="en-US" dirty="0"/>
              <a:t>, championed by </a:t>
            </a:r>
            <a:r>
              <a:rPr lang="en-US" dirty="0" err="1"/>
              <a:t>Edsger</a:t>
            </a:r>
            <a:r>
              <a:rPr lang="en-US" dirty="0"/>
              <a:t> Dijkstra and David Parnas, emphasized clarity, modularity, and control flow discipline. It moved us away from chaotic 'spaghetti code' and toward code that could be reasoned about and maintained.</a:t>
            </a:r>
          </a:p>
          <a:p>
            <a:r>
              <a:rPr lang="en-US" dirty="0"/>
              <a:t>Around the same time, </a:t>
            </a:r>
            <a:r>
              <a:rPr lang="en-US" b="1" dirty="0"/>
              <a:t>object-oriented programming</a:t>
            </a:r>
            <a:r>
              <a:rPr lang="en-US" dirty="0"/>
              <a:t> (OOP) started to gain traction. The idea came from earlier languages like Simula and Smalltalk, but it wasn’t until </a:t>
            </a:r>
            <a:r>
              <a:rPr lang="en-US" b="1" dirty="0"/>
              <a:t>C++</a:t>
            </a:r>
            <a:r>
              <a:rPr lang="en-US" dirty="0"/>
              <a:t> in the 1980s that OOP became mainstream in commercial software. Later, </a:t>
            </a:r>
            <a:r>
              <a:rPr lang="en-US" b="1" dirty="0"/>
              <a:t>Java</a:t>
            </a:r>
            <a:r>
              <a:rPr lang="en-US" dirty="0"/>
              <a:t> further cemented OOP in industry and education during the 1990s.</a:t>
            </a:r>
          </a:p>
          <a:p>
            <a:r>
              <a:rPr lang="en-US" dirty="0"/>
              <a:t>Another important development was the </a:t>
            </a:r>
            <a:r>
              <a:rPr lang="en-US" b="1" dirty="0"/>
              <a:t>Waterfall model</a:t>
            </a:r>
            <a:r>
              <a:rPr lang="en-US" dirty="0"/>
              <a:t>, proposed by </a:t>
            </a:r>
            <a:r>
              <a:rPr lang="en-US" b="1" dirty="0"/>
              <a:t>Winston Royce</a:t>
            </a:r>
            <a:r>
              <a:rPr lang="en-US" dirty="0"/>
              <a:t> in 1970. Though originally a cautionary example, it was widely adopted in industry as a sequential approach to software development — progressing from requirements to design, implementation, testing, and maintenance.</a:t>
            </a:r>
          </a:p>
          <a:p>
            <a:r>
              <a:rPr lang="en-US" dirty="0"/>
              <a:t>Finally, we began to see the formalization of </a:t>
            </a:r>
            <a:r>
              <a:rPr lang="en-US" b="1" dirty="0"/>
              <a:t>software engineering education</a:t>
            </a:r>
            <a:r>
              <a:rPr lang="en-US" dirty="0"/>
              <a:t>. University courses, degree programs, and textbooks started to appear, helping to professionalize the field and establish common best practices. During the 1970s to 1990s, software engineering began to mature as a discipline.</a:t>
            </a:r>
          </a:p>
          <a:p>
            <a:r>
              <a:rPr lang="en-US" dirty="0"/>
              <a:t>First, </a:t>
            </a:r>
            <a:r>
              <a:rPr lang="en-US" b="1" dirty="0"/>
              <a:t>structured programming</a:t>
            </a:r>
            <a:r>
              <a:rPr lang="en-US" dirty="0"/>
              <a:t>, championed by </a:t>
            </a:r>
            <a:r>
              <a:rPr lang="en-US" dirty="0" err="1"/>
              <a:t>Edsger</a:t>
            </a:r>
            <a:r>
              <a:rPr lang="en-US" dirty="0"/>
              <a:t> Dijkstra and David Parnas, emphasized clarity, modularity, and control flow discipline. It moved us away from chaotic 'spaghetti code' and toward code that could be reasoned about and maintained.</a:t>
            </a:r>
          </a:p>
          <a:p>
            <a:r>
              <a:rPr lang="en-US" dirty="0"/>
              <a:t>Around the same time, </a:t>
            </a:r>
            <a:r>
              <a:rPr lang="en-US" b="1" dirty="0"/>
              <a:t>object-oriented programming</a:t>
            </a:r>
            <a:r>
              <a:rPr lang="en-US" dirty="0"/>
              <a:t> (OOP) started to gain traction. The idea came from earlier languages like Simula and Smalltalk, but it wasn’t until </a:t>
            </a:r>
            <a:r>
              <a:rPr lang="en-US" b="1" dirty="0"/>
              <a:t>C++</a:t>
            </a:r>
            <a:r>
              <a:rPr lang="en-US" dirty="0"/>
              <a:t> in the 1980s that OOP became mainstream in commercial software. Later, </a:t>
            </a:r>
            <a:r>
              <a:rPr lang="en-US" b="1" dirty="0"/>
              <a:t>Java</a:t>
            </a:r>
            <a:r>
              <a:rPr lang="en-US" dirty="0"/>
              <a:t> further cemented OOP in industry and education during the 1990s.</a:t>
            </a:r>
          </a:p>
          <a:p>
            <a:r>
              <a:rPr lang="en-US" dirty="0"/>
              <a:t>Another important development was the </a:t>
            </a:r>
            <a:r>
              <a:rPr lang="en-US" b="1" dirty="0"/>
              <a:t>Waterfall model</a:t>
            </a:r>
            <a:r>
              <a:rPr lang="en-US" dirty="0"/>
              <a:t>, proposed by </a:t>
            </a:r>
            <a:r>
              <a:rPr lang="en-US" b="1" dirty="0"/>
              <a:t>Winston Royce</a:t>
            </a:r>
            <a:r>
              <a:rPr lang="en-US" dirty="0"/>
              <a:t> in 1970. Though originally a cautionary example, it was widely adopted in industry as a sequential approach to software development — progressing from requirements to design, implementation, testing, and maintenance.</a:t>
            </a:r>
          </a:p>
          <a:p>
            <a:r>
              <a:rPr lang="en-US" dirty="0"/>
              <a:t>Finally, we began to see the formalization of </a:t>
            </a:r>
            <a:r>
              <a:rPr lang="en-US" b="1" dirty="0"/>
              <a:t>software engineering education</a:t>
            </a:r>
            <a:r>
              <a:rPr lang="en-US" dirty="0"/>
              <a:t>. University courses, degree programs, and textbooks started to appear, helping to professionalize the field and establish common best practices.</a:t>
            </a:r>
            <a:br>
              <a:rPr lang="en-US" dirty="0"/>
            </a:br>
            <a:br>
              <a:rPr lang="en-US" dirty="0"/>
            </a:br>
            <a:br>
              <a:rPr lang="en-US" dirty="0"/>
            </a:br>
            <a:r>
              <a:rPr lang="en-US" dirty="0"/>
              <a:t>The Waterfall model is often credited to </a:t>
            </a:r>
            <a:r>
              <a:rPr lang="en-US" b="1" dirty="0"/>
              <a:t>Winston Royce</a:t>
            </a:r>
            <a:r>
              <a:rPr lang="en-US" dirty="0"/>
              <a:t>, based on his 1970 paper. It depicts software development as a linear sequence of stages — from requirements to maintenance.</a:t>
            </a:r>
          </a:p>
          <a:p>
            <a:r>
              <a:rPr lang="en-US" dirty="0"/>
              <a:t>However, it’s worth noting that </a:t>
            </a:r>
            <a:r>
              <a:rPr lang="en-US" b="1" dirty="0"/>
              <a:t>Royce never intended it as a strict process model</a:t>
            </a:r>
            <a:r>
              <a:rPr lang="en-US" dirty="0"/>
              <a:t>. In fact, his paper warned that a purely sequential approach was risky for large software systems. He actually </a:t>
            </a:r>
            <a:r>
              <a:rPr lang="en-US" b="1" dirty="0"/>
              <a:t>advocated for iterative development and prototyping</a:t>
            </a:r>
            <a:r>
              <a:rPr lang="en-US" dirty="0"/>
              <a:t>.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0CDB674-9C07-4F43-9CB5-21BC013244CA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026701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 close today's lecture, I want to introduce one of the most influential essays in software engineering history: </a:t>
            </a:r>
            <a:r>
              <a:rPr lang="en-US" i="1" dirty="0"/>
              <a:t>“No Silver Bullet”</a:t>
            </a:r>
            <a:r>
              <a:rPr lang="en-US" dirty="0"/>
              <a:t> by Fred Brooks.</a:t>
            </a:r>
          </a:p>
          <a:p>
            <a:r>
              <a:rPr lang="en-US" dirty="0"/>
              <a:t>Brooks argues that there is </a:t>
            </a:r>
            <a:r>
              <a:rPr lang="en-US" b="1" dirty="0"/>
              <a:t>no quick fix</a:t>
            </a:r>
            <a:r>
              <a:rPr lang="en-US" dirty="0"/>
              <a:t> — no “silver bullet” — that will dramatically improve software development productivity. He explains why software is inherently complex, and reflects on what advances might help us — and which won't.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0CDB674-9C07-4F43-9CB5-21BC013244CA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974515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5DEF28A0-75AA-732C-496C-CEAD29488CE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E7705AB2-73E4-9718-527D-17267167AF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C3D48441-2C3F-BD25-9F7F-2A7634FB771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F1276487-8B75-2F43-9355-4B467BD57A6C}" type="datetime1">
              <a:rPr lang="en-US" smtClean="0"/>
              <a:t>8/10/25</a:t>
            </a:fld>
            <a:endParaRPr lang="en-US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17E3B859-B9D9-912A-B230-2381022256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CBE1D365-5A25-E66D-ABED-A7D18A2C8E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B30462-0FD5-604F-8C98-DCC91BE845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518305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CE776C-9515-2481-8B81-687776F091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9E6A0C-0355-3D06-1759-778857070E3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AB20B47-E8B8-5702-1C01-68F8723AE3F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8D8F5D7A-DAAE-D246-A661-ED1AD3964955}" type="datetime1">
              <a:rPr lang="en-US" smtClean="0"/>
              <a:t>8/10/25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8392D50-3380-02C7-AEFE-F0BC90F159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DD4D026-5B15-2277-DB80-485E63ED56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B30462-0FD5-604F-8C98-DCC91BE845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461265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D3F852-C41E-175D-56D6-33A03E8BB9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1F38482-CFA2-62B5-B8EB-BBC3E4EAF68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8CECB99-20D2-B6C1-9EDC-635D680A35F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801806B9-6C4B-3B45-9110-CA58C108BE01}" type="datetime1">
              <a:rPr lang="en-US" smtClean="0"/>
              <a:t>8/10/25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8DA2888-2503-1FDC-F664-DEE807B7B6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D3854B3-F213-4765-F345-76E42D93CE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B30462-0FD5-604F-8C98-DCC91BE845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924962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B51A05-54B8-7E29-77B4-2D4D3E059C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A40CF6-62D6-BE4F-5F1E-3EC5743694F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FE161BC-33E7-8CA5-1312-A2BFA63C397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067BE4C-1F80-EAE2-1AFD-BB06EECE4B9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025C6FEA-FDE7-B240-BEAF-6A3F6212E36E}" type="datetime1">
              <a:rPr lang="en-US" smtClean="0"/>
              <a:t>8/10/25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0931F1C-CDC4-F1D8-876C-5F98389C00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488A4B9-F63B-7C06-90D6-8634A26CCF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B30462-0FD5-604F-8C98-DCC91BE845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548565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487F9B-3701-6710-2389-36AC20E46C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6F2CB0B-873B-50E9-5AC8-22CA787563D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8A45A94-B45A-35EA-2614-2D4296A08A9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109E794-5D03-A43B-6AA9-5AD8C6500EF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568EAAB-599B-EC7B-5784-CDBCF5DA95F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2BCD028-8BC9-0A02-9AFA-A424BDCAAF0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895F5DD0-F679-3747-91F3-9DC9C3F86CB6}" type="datetime1">
              <a:rPr lang="en-US" smtClean="0"/>
              <a:t>8/10/25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B13C9A0-BB3F-D1B8-F222-2442F52DFF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0AADC62-3F93-4461-BABD-0FD0A471ED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B30462-0FD5-604F-8C98-DCC91BE845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795934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CC8875-1E47-8116-8FF7-7BC4A29AD5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25B6199-0A35-BE42-C731-28B8FE485B8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9EDA3FF8-7A34-ED49-AA5D-BC76DF58E74E}" type="datetime1">
              <a:rPr lang="en-US" smtClean="0"/>
              <a:t>8/10/25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558E580-A669-EB85-47DB-D3AEE46751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7FF84C7-A90A-3906-5514-E0847AAE9A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B30462-0FD5-604F-8C98-DCC91BE845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274040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8B1B613-2CCE-6122-DE23-62F328D9659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182A1C80-5B2D-564F-B8C6-B0B5B92F5809}" type="datetime1">
              <a:rPr lang="en-US" smtClean="0"/>
              <a:t>8/10/25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438C4DD-7CA7-DD9C-5BD0-EA324B963D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DC655BB-96E0-F847-F0B4-287D7459A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B30462-0FD5-604F-8C98-DCC91BE845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407457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BB769A-A7F1-A15B-CCF1-17A9B1DF15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ED284E-E8DD-25FB-2A5E-6708FBF6E2A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DAD4023-DA97-5B6E-422B-DDC647AE634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7B8B7CD-5E0E-8F78-E3F1-47A1D71D4FE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65F75D97-7D6D-EC47-8250-30DF936063AD}" type="datetime1">
              <a:rPr lang="en-US" smtClean="0"/>
              <a:t>8/10/25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50D2508-7DF0-5968-F780-59D0825221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20E2F17-2087-A0CA-2885-3181C3A52B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B30462-0FD5-604F-8C98-DCC91BE845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98668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39FD2D-D8D6-BDB5-1038-2D9B176FC6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E162F1D-3B6F-2054-01B3-AC4538AE062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1102A9A-9291-057A-80A7-F2F753F971C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EE4D46C-E6AA-FE6B-DE41-778ED989A92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D2E89D4A-5528-5F41-9AF6-6B3105C8A7C3}" type="datetime1">
              <a:rPr lang="en-US" smtClean="0"/>
              <a:t>8/10/25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6DE02E3-E3B3-328B-521E-F5F071739F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8508106-D1AB-C8C1-3FE0-F21DFDFFF0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B30462-0FD5-604F-8C98-DCC91BE845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474544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D064AE-8755-7F7B-C68D-561A352C18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8929152-293C-5336-1744-E573C5263D4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DA28957-3D61-7182-44B1-C3791CC4262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30B10427-957C-524C-8454-F629CBA9C9BE}" type="datetime1">
              <a:rPr lang="en-US" smtClean="0"/>
              <a:t>8/10/25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6D2979-2EAB-0B3F-DB47-A979C8D11A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0CE9273-E3ED-F625-CE3A-B35AAD1A87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B30462-0FD5-604F-8C98-DCC91BE845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190218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640C05D-BFD7-54A9-F048-42669628710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A2635B8-BEF6-D4D6-B7E3-9F82C30862B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4791B31-6AE8-5C57-0F05-9DF22FEDD3D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B97C5AB-4FB5-3149-A6CF-D0F885A81EBA}" type="datetime1">
              <a:rPr lang="en-US" smtClean="0"/>
              <a:t>8/10/25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AA3110-252A-0FCD-089D-505AA96DD8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1E09920-10B2-1B50-A547-C1E7569F74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B30462-0FD5-604F-8C98-DCC91BE845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46958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FFF15A6-0B1F-720E-CEE1-BF5A27B0F5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03D39F7-266E-4548-B78D-57FF739024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6B66D50-6D55-2838-D530-BF1F4F812C7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6344417-86B7-E841-9AA9-C4BE48872EF5}" type="datetime1">
              <a:rPr lang="en-US" smtClean="0"/>
              <a:t>8/10/25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BEBFEB4-F926-BA5A-5FB0-25E386DDBDA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281A711-8872-184C-30EC-436A45C34E1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AB30462-0FD5-604F-8C98-DCC91BE84583}" type="slidenum">
              <a:rPr lang="en-US" smtClean="0"/>
              <a:t>‹#›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0C48AEA-54E9-5154-4D70-373F1088C001}"/>
              </a:ext>
            </a:extLst>
          </p:cNvPr>
          <p:cNvPicPr>
            <a:picLocks noChangeAspect="1"/>
          </p:cNvPicPr>
          <p:nvPr userDrawn="1"/>
        </p:nvPicPr>
        <p:blipFill>
          <a:blip r:embed="rId13"/>
          <a:stretch>
            <a:fillRect/>
          </a:stretch>
        </p:blipFill>
        <p:spPr>
          <a:xfrm>
            <a:off x="9982200" y="145469"/>
            <a:ext cx="2066636" cy="5572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13455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blog.spiral.co.nz/2015/" TargetMode="External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1.xml"/><Relationship Id="rId5" Type="http://schemas.openxmlformats.org/officeDocument/2006/relationships/hyperlink" Target="https://kenscourses.com/tc101fall2016/syndicated/classes-to-code-3/" TargetMode="Externa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vecteezy.com/vector-art/11968092-airplane-flying-in-sky-jet-plane-fly-in-clouds-airplanes-travel-and-vacation-aircraft-flight-plane-airplane-trip-to-airport-or-airline-transportation-flat-airplane-vector-illustration" TargetMode="External"/><Relationship Id="rId7" Type="http://schemas.openxmlformats.org/officeDocument/2006/relationships/hyperlink" Target="https://www.wisegeek.com/what-is-the-role-of-banks-in-economic-development.htm" TargetMode="External"/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jpg"/><Relationship Id="rId5" Type="http://schemas.openxmlformats.org/officeDocument/2006/relationships/hyperlink" Target="https://pixabay.com/zh/images/search/kokilaben%20hospital%20indore/" TargetMode="External"/><Relationship Id="rId4" Type="http://schemas.openxmlformats.org/officeDocument/2006/relationships/image" Target="../media/image5.jp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jpg"/><Relationship Id="rId13" Type="http://schemas.openxmlformats.org/officeDocument/2006/relationships/hyperlink" Target="https://www.netconfig.co.za/intermediate-microsoft-word-training/" TargetMode="External"/><Relationship Id="rId3" Type="http://schemas.openxmlformats.org/officeDocument/2006/relationships/hyperlink" Target="https://logos-world.net/tiktok-logo/" TargetMode="External"/><Relationship Id="rId7" Type="http://schemas.openxmlformats.org/officeDocument/2006/relationships/hyperlink" Target="https://pixabay.com/zh/images/search/kokilaben%20hospital%20indore/" TargetMode="External"/><Relationship Id="rId12" Type="http://schemas.openxmlformats.org/officeDocument/2006/relationships/image" Target="../media/image9.png"/><Relationship Id="rId2" Type="http://schemas.openxmlformats.org/officeDocument/2006/relationships/image" Target="../media/image7.jpg"/><Relationship Id="rId16" Type="http://schemas.openxmlformats.org/officeDocument/2006/relationships/image" Target="../media/image11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jpg"/><Relationship Id="rId11" Type="http://schemas.openxmlformats.org/officeDocument/2006/relationships/hyperlink" Target="https://studybeglerbegs.z4.web.core.windows.net/which-can-store-a-computers-operating-system.html" TargetMode="External"/><Relationship Id="rId5" Type="http://schemas.openxmlformats.org/officeDocument/2006/relationships/hyperlink" Target="https://www.vecteezy.com/vector-art/11968092-airplane-flying-in-sky-jet-plane-fly-in-clouds-airplanes-travel-and-vacation-aircraft-flight-plane-airplane-trip-to-airport-or-airline-transportation-flat-airplane-vector-illustration" TargetMode="External"/><Relationship Id="rId15" Type="http://schemas.openxmlformats.org/officeDocument/2006/relationships/hyperlink" Target="https://play.google.com/store/apps/details?id=com.whatsapp" TargetMode="External"/><Relationship Id="rId10" Type="http://schemas.openxmlformats.org/officeDocument/2006/relationships/image" Target="../media/image8.jpg"/><Relationship Id="rId4" Type="http://schemas.openxmlformats.org/officeDocument/2006/relationships/image" Target="../media/image4.jpg"/><Relationship Id="rId9" Type="http://schemas.openxmlformats.org/officeDocument/2006/relationships/hyperlink" Target="https://www.wisegeek.com/what-is-the-role-of-banks-in-economic-development.htm" TargetMode="External"/><Relationship Id="rId14" Type="http://schemas.openxmlformats.org/officeDocument/2006/relationships/image" Target="../media/image10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Linux_kernel" TargetMode="External"/><Relationship Id="rId2" Type="http://schemas.openxmlformats.org/officeDocument/2006/relationships/hyperlink" Target="https://en.wikipedia.org/wiki/Google" TargetMode="Externa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eg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F5EF63-B7CB-2CD1-A1C3-1EB238A312A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>
            <a:normAutofit/>
          </a:bodyPr>
          <a:lstStyle/>
          <a:p>
            <a:r>
              <a:rPr lang="en-US" dirty="0"/>
              <a:t>Introduction to Software Engineering</a:t>
            </a:r>
            <a:endParaRPr lang="en-US" sz="270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AF77C89-3733-9C2A-A31F-60CAE4BBFE9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014982"/>
            <a:ext cx="9144000" cy="1655762"/>
          </a:xfrm>
        </p:spPr>
        <p:txBody>
          <a:bodyPr/>
          <a:lstStyle/>
          <a:p>
            <a:r>
              <a:rPr lang="en-US" dirty="0"/>
              <a:t>CS 6100 — Fall 2025</a:t>
            </a:r>
          </a:p>
          <a:p>
            <a:r>
              <a:rPr lang="en-US" dirty="0"/>
              <a:t>Tong Zhou</a:t>
            </a:r>
          </a:p>
          <a:p>
            <a:r>
              <a:rPr lang="en-US" dirty="0"/>
              <a:t>tzhou44@fordham.edu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728300D-2CF8-D7CA-2A10-6C95ED402AF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524000" y="3690860"/>
            <a:ext cx="1986351" cy="1474865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38F6D49C-E62F-841E-4BAC-588ADB90B7C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837473B0-CC2E-450A-ABE3-18F120FF3D39}">
                <a1611:picAttrSrcUrl xmlns:a1611="http://schemas.microsoft.com/office/drawing/2016/11/main" r:id="rId5"/>
              </a:ext>
            </a:extLst>
          </a:blip>
          <a:stretch>
            <a:fillRect/>
          </a:stretch>
        </p:blipFill>
        <p:spPr>
          <a:xfrm>
            <a:off x="8786452" y="3509963"/>
            <a:ext cx="1881548" cy="1655762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802A9BF-6BCF-B8C8-3361-DC2B402116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B30462-0FD5-604F-8C98-DCC91BE84583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605334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8F3CD7-EA0C-AD19-D5A7-29F331EDF0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Software Engineering?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A35313-4FD7-39D7-7953-F970AB9D970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“The application of a systematic, disciplined, quantifiable approach to the development, operation, and maintenance of software; that is, the application of engineering to software.”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— defined by IEEE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More than coding — involves people, processes, and tools</a:t>
            </a:r>
            <a:r>
              <a:rPr lang="en-US" altLang="zh-CN" dirty="0"/>
              <a:t>.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B35D715-355F-2886-F985-8BDEAE59C8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B30462-0FD5-604F-8C98-DCC91BE84583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368465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5EBD6C-44F7-0777-F1FB-7739794F98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Software vs. Program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26420C-A963-FD47-5780-7562F2A5B7F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Program:</a:t>
            </a:r>
            <a:r>
              <a:rPr lang="en-US" dirty="0"/>
              <a:t> a single, stand-alone piece of code that solves a specific problem.</a:t>
            </a:r>
          </a:p>
          <a:p>
            <a:r>
              <a:rPr lang="en-US" b="1" dirty="0"/>
              <a:t>Software:</a:t>
            </a:r>
            <a:r>
              <a:rPr lang="en-US" dirty="0"/>
              <a:t> computer programs, procedures, and possibly associated documentation and data pertaining to the operation of a computer system.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altLang="zh-CN" dirty="0"/>
              <a:t>Programs</a:t>
            </a:r>
            <a:r>
              <a:rPr lang="zh-CN" altLang="en-US" dirty="0"/>
              <a:t> </a:t>
            </a:r>
            <a:r>
              <a:rPr lang="en-US" altLang="zh-CN" dirty="0"/>
              <a:t>(code)</a:t>
            </a:r>
            <a:r>
              <a:rPr lang="zh-CN" altLang="en-US" dirty="0"/>
              <a:t> </a:t>
            </a:r>
            <a:r>
              <a:rPr lang="en-US" altLang="zh-CN" dirty="0"/>
              <a:t>are</a:t>
            </a:r>
            <a:r>
              <a:rPr lang="zh-CN" altLang="en-US" dirty="0"/>
              <a:t> </a:t>
            </a:r>
            <a:r>
              <a:rPr lang="en-US" altLang="zh-CN" dirty="0"/>
              <a:t>part</a:t>
            </a:r>
            <a:r>
              <a:rPr lang="zh-CN" altLang="en-US" dirty="0"/>
              <a:t> </a:t>
            </a:r>
            <a:r>
              <a:rPr lang="en-US" altLang="zh-CN" dirty="0"/>
              <a:t>of</a:t>
            </a:r>
            <a:r>
              <a:rPr lang="zh-CN" altLang="en-US" dirty="0"/>
              <a:t> </a:t>
            </a:r>
            <a:r>
              <a:rPr lang="en-US" altLang="zh-CN" dirty="0"/>
              <a:t>a</a:t>
            </a:r>
            <a:r>
              <a:rPr lang="zh-CN" altLang="en-US" dirty="0"/>
              <a:t> </a:t>
            </a:r>
            <a:r>
              <a:rPr lang="en-US" altLang="zh-CN" dirty="0"/>
              <a:t>software.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4D9C731-EE37-F7F1-07D0-3F71D8CDFF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B30462-0FD5-604F-8C98-DCC91BE84583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44563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237246-E57C-B3DB-804A-521653FAA0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Software Engineering?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D2A2BC-549B-F33D-6B50-AA5EE30D3F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Software is Everywhere</a:t>
            </a:r>
          </a:p>
          <a:p>
            <a:pPr lvl="1"/>
            <a:r>
              <a:rPr lang="en-US" b="1" dirty="0"/>
              <a:t>Example</a:t>
            </a:r>
            <a:r>
              <a:rPr lang="en-US" dirty="0"/>
              <a:t>: An MRI scanner, an airplane autopilot system, and your ride-share app — all run on complex software</a:t>
            </a:r>
          </a:p>
          <a:p>
            <a:pPr lvl="1"/>
            <a:r>
              <a:rPr lang="en-US" b="1" dirty="0"/>
              <a:t>Point</a:t>
            </a:r>
            <a:r>
              <a:rPr lang="en-US" dirty="0"/>
              <a:t>: These systems must be </a:t>
            </a:r>
            <a:r>
              <a:rPr lang="en-US" i="1" dirty="0"/>
              <a:t>safe</a:t>
            </a:r>
            <a:r>
              <a:rPr lang="en-US" dirty="0"/>
              <a:t>, </a:t>
            </a:r>
            <a:r>
              <a:rPr lang="en-US" i="1" dirty="0"/>
              <a:t>reliable</a:t>
            </a:r>
            <a:r>
              <a:rPr lang="en-US" dirty="0"/>
              <a:t>, and </a:t>
            </a:r>
            <a:r>
              <a:rPr lang="en-US" i="1" dirty="0"/>
              <a:t>maintainable</a:t>
            </a:r>
            <a:endParaRPr lang="en-US" dirty="0"/>
          </a:p>
          <a:p>
            <a:endParaRPr lang="en-US" i="1" dirty="0"/>
          </a:p>
          <a:p>
            <a:endParaRPr lang="en-US" dirty="0"/>
          </a:p>
          <a:p>
            <a:pPr lvl="1"/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FDB7CED-2B7A-FDD0-EC67-833AF9C1826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923598" y="4001294"/>
            <a:ext cx="3138270" cy="177508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61A7C65-CB4B-5992-FFA2-404D3E10AD0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837473B0-CC2E-450A-ABE3-18F120FF3D39}">
                <a1611:picAttrSrcUrl xmlns:a1611="http://schemas.microsoft.com/office/drawing/2016/11/main" r:id="rId5"/>
              </a:ext>
            </a:extLst>
          </a:blip>
          <a:stretch>
            <a:fillRect/>
          </a:stretch>
        </p:blipFill>
        <p:spPr>
          <a:xfrm>
            <a:off x="5079514" y="4001294"/>
            <a:ext cx="2115879" cy="211587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822680DD-D55D-8156-492D-77B8AAB8198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837473B0-CC2E-450A-ABE3-18F120FF3D39}">
                <a1611:picAttrSrcUrl xmlns:a1611="http://schemas.microsoft.com/office/drawing/2016/11/main" r:id="rId7"/>
              </a:ext>
            </a:extLst>
          </a:blip>
          <a:stretch>
            <a:fillRect/>
          </a:stretch>
        </p:blipFill>
        <p:spPr>
          <a:xfrm>
            <a:off x="8213039" y="4001294"/>
            <a:ext cx="3019268" cy="1988691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ADA9209-5AEB-C965-71EC-AFB92B7D0A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B30462-0FD5-604F-8C98-DCC91BE84583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626569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80852A-5BA1-A70E-8011-E813F2906E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>
            <a:extLst>
              <a:ext uri="{FF2B5EF4-FFF2-40B4-BE49-F238E27FC236}">
                <a16:creationId xmlns:a16="http://schemas.microsoft.com/office/drawing/2014/main" id="{6F37C7C3-0379-19D0-342F-52F379687AB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6924642" y="5642996"/>
            <a:ext cx="1685958" cy="948351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2E76335-E3D7-FD83-5AFA-B8EFB9A753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Software Engineering?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54DAE4-36AC-372D-1519-0ACED726809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Software is Everywhere</a:t>
            </a:r>
          </a:p>
          <a:p>
            <a:pPr lvl="1"/>
            <a:r>
              <a:rPr lang="en-US" b="1" dirty="0"/>
              <a:t>Example</a:t>
            </a:r>
            <a:r>
              <a:rPr lang="en-US" dirty="0"/>
              <a:t>: An MRI scanner, an airplane autopilot system, and your ride-share app — all run on complex software</a:t>
            </a:r>
          </a:p>
          <a:p>
            <a:pPr lvl="1"/>
            <a:r>
              <a:rPr lang="en-US" b="1" dirty="0"/>
              <a:t>Point</a:t>
            </a:r>
            <a:r>
              <a:rPr lang="en-US" dirty="0"/>
              <a:t>: These systems must be </a:t>
            </a:r>
            <a:r>
              <a:rPr lang="en-US" i="1" dirty="0"/>
              <a:t>safe</a:t>
            </a:r>
            <a:r>
              <a:rPr lang="en-US" dirty="0"/>
              <a:t>, </a:t>
            </a:r>
            <a:r>
              <a:rPr lang="en-US" i="1" dirty="0"/>
              <a:t>reliable</a:t>
            </a:r>
            <a:r>
              <a:rPr lang="en-US" dirty="0"/>
              <a:t>, and </a:t>
            </a:r>
            <a:r>
              <a:rPr lang="en-US" i="1" dirty="0"/>
              <a:t>maintainable</a:t>
            </a:r>
            <a:endParaRPr lang="en-US" dirty="0"/>
          </a:p>
          <a:p>
            <a:endParaRPr lang="en-US" i="1" dirty="0"/>
          </a:p>
          <a:p>
            <a:endParaRPr lang="en-US" dirty="0"/>
          </a:p>
          <a:p>
            <a:pPr lvl="1"/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AEFADB3-FD2E-DA0D-07E7-B93C0A90DBA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837473B0-CC2E-450A-ABE3-18F120FF3D39}">
                <a1611:picAttrSrcUrl xmlns:a1611="http://schemas.microsoft.com/office/drawing/2016/11/main" r:id="rId5"/>
              </a:ext>
            </a:extLst>
          </a:blip>
          <a:stretch>
            <a:fillRect/>
          </a:stretch>
        </p:blipFill>
        <p:spPr>
          <a:xfrm>
            <a:off x="923598" y="4001294"/>
            <a:ext cx="3138270" cy="177508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EF888D39-84F4-BC1C-88CA-B1A8CCB3961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837473B0-CC2E-450A-ABE3-18F120FF3D39}">
                <a1611:picAttrSrcUrl xmlns:a1611="http://schemas.microsoft.com/office/drawing/2016/11/main" r:id="rId7"/>
              </a:ext>
            </a:extLst>
          </a:blip>
          <a:stretch>
            <a:fillRect/>
          </a:stretch>
        </p:blipFill>
        <p:spPr>
          <a:xfrm>
            <a:off x="5079514" y="4001294"/>
            <a:ext cx="2115879" cy="211587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6416F2C6-A27E-0FD2-AB8C-131CBEA7F6AA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837473B0-CC2E-450A-ABE3-18F120FF3D39}">
                <a1611:picAttrSrcUrl xmlns:a1611="http://schemas.microsoft.com/office/drawing/2016/11/main" r:id="rId9"/>
              </a:ext>
            </a:extLst>
          </a:blip>
          <a:stretch>
            <a:fillRect/>
          </a:stretch>
        </p:blipFill>
        <p:spPr>
          <a:xfrm>
            <a:off x="8213039" y="4001294"/>
            <a:ext cx="3019268" cy="1988691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8BC2666D-74A3-BEC6-B41D-5D9650AA93D8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837473B0-CC2E-450A-ABE3-18F120FF3D39}">
                <a1611:picAttrSrcUrl xmlns:a1611="http://schemas.microsoft.com/office/drawing/2016/11/main" r:id="rId11"/>
              </a:ext>
            </a:extLst>
          </a:blip>
          <a:stretch>
            <a:fillRect/>
          </a:stretch>
        </p:blipFill>
        <p:spPr>
          <a:xfrm>
            <a:off x="1207994" y="5504707"/>
            <a:ext cx="1837029" cy="1224931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C13D62AE-2F75-9204-0693-98C4ADBC8FB0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837473B0-CC2E-450A-ABE3-18F120FF3D39}">
                <a1611:picAttrSrcUrl xmlns:a1611="http://schemas.microsoft.com/office/drawing/2016/11/main" r:id="rId13"/>
              </a:ext>
            </a:extLst>
          </a:blip>
          <a:stretch>
            <a:fillRect/>
          </a:stretch>
        </p:blipFill>
        <p:spPr>
          <a:xfrm>
            <a:off x="5362759" y="5634200"/>
            <a:ext cx="1675531" cy="942486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81BD4918-FE84-38F8-117D-B4979584AB2B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837473B0-CC2E-450A-ABE3-18F120FF3D39}">
                <a1611:picAttrSrcUrl xmlns:a1611="http://schemas.microsoft.com/office/drawing/2016/11/main" r:id="rId15"/>
              </a:ext>
            </a:extLst>
          </a:blip>
          <a:stretch>
            <a:fillRect/>
          </a:stretch>
        </p:blipFill>
        <p:spPr>
          <a:xfrm>
            <a:off x="3871561" y="5516048"/>
            <a:ext cx="1114208" cy="1114208"/>
          </a:xfrm>
          <a:prstGeom prst="rect">
            <a:avLst/>
          </a:prstGeom>
        </p:spPr>
      </p:pic>
      <p:pic>
        <p:nvPicPr>
          <p:cNvPr id="1026" name="Picture 2" descr="Minsk, Belarus - 03-27-2023. OpenAI and ChatGPT logo. artifical chatbot  system. chat bot button for web, app and phone icon symbol. editorial  vector illustration 21972603 Vector Art at Vecteezy">
            <a:extLst>
              <a:ext uri="{FF2B5EF4-FFF2-40B4-BE49-F238E27FC236}">
                <a16:creationId xmlns:a16="http://schemas.microsoft.com/office/drawing/2014/main" id="{5216A32F-E7B6-E440-1690-4958ECF6D62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90989" y="5560067"/>
            <a:ext cx="1114208" cy="11142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9312233-511D-3574-C8A9-354B1E908D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B30462-0FD5-604F-8C98-DCC91BE84583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926281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04566C-ECBF-FE39-CEA5-7288EE9A88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846A92-E38B-66D8-9DFA-83E06E6CA1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Software Engineering?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07F718-0128-035D-D2A1-4EDA3B714B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Code Is Easy to Write, Hard to Manage</a:t>
            </a:r>
          </a:p>
          <a:p>
            <a:pPr lvl="1"/>
            <a:r>
              <a:rPr lang="en-US" b="1" dirty="0"/>
              <a:t>Example</a:t>
            </a:r>
            <a:r>
              <a:rPr lang="en-US" dirty="0"/>
              <a:t>: A prototype written in a hackathon might work once, but will break with real users, multiple developers, or scaling needs</a:t>
            </a:r>
          </a:p>
          <a:p>
            <a:pPr lvl="1"/>
            <a:r>
              <a:rPr lang="en-US" b="1" dirty="0"/>
              <a:t>Point</a:t>
            </a:r>
            <a:r>
              <a:rPr lang="en-US" dirty="0"/>
              <a:t>: SE helps manage complexity, especially in large teams and long-term projects</a:t>
            </a:r>
          </a:p>
          <a:p>
            <a:pPr lvl="1"/>
            <a:endParaRPr lang="en-US" dirty="0"/>
          </a:p>
          <a:p>
            <a:endParaRPr lang="en-US" i="1" dirty="0"/>
          </a:p>
          <a:p>
            <a:endParaRPr lang="en-US" dirty="0"/>
          </a:p>
          <a:p>
            <a:pPr lvl="1"/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BF71EB-8A73-27D8-6062-55BE432A76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B30462-0FD5-604F-8C98-DCC91BE84583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598044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1CB9B5-69DB-5E69-A8A2-F90C7630F5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531331-2411-03A1-69C6-BCA8B370FA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Software Engineering?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22D7C8-D045-BA1F-8CEE-DDC6EB7F3D0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2156440"/>
          </a:xfrm>
        </p:spPr>
        <p:txBody>
          <a:bodyPr/>
          <a:lstStyle/>
          <a:p>
            <a:r>
              <a:rPr lang="en-US" dirty="0"/>
              <a:t>Code Is Easy to Write, Hard to Manage</a:t>
            </a:r>
          </a:p>
          <a:p>
            <a:pPr lvl="1"/>
            <a:r>
              <a:rPr lang="en-US" b="1" dirty="0"/>
              <a:t>Example</a:t>
            </a:r>
            <a:r>
              <a:rPr lang="en-US" dirty="0"/>
              <a:t>: A prototype written in a hackathon might work once, but will break with real users, multiple developers, or scaling needs</a:t>
            </a:r>
          </a:p>
          <a:p>
            <a:pPr lvl="1"/>
            <a:r>
              <a:rPr lang="en-US" b="1" dirty="0"/>
              <a:t>Point</a:t>
            </a:r>
            <a:r>
              <a:rPr lang="en-US" dirty="0"/>
              <a:t>: SE helps manage complexity, especially in large teams and long-term projects</a:t>
            </a:r>
          </a:p>
          <a:p>
            <a:pPr lvl="1"/>
            <a:endParaRPr lang="en-US" dirty="0"/>
          </a:p>
          <a:p>
            <a:endParaRPr lang="en-US" i="1" dirty="0"/>
          </a:p>
          <a:p>
            <a:endParaRPr lang="en-US" dirty="0"/>
          </a:p>
          <a:p>
            <a:pPr lvl="1"/>
            <a:endParaRPr lang="en-US" dirty="0"/>
          </a:p>
        </p:txBody>
      </p:sp>
      <p:pic>
        <p:nvPicPr>
          <p:cNvPr id="1028" name="Picture 4" descr="Python Quicksort, algoritmo di ordinamento Python">
            <a:extLst>
              <a:ext uri="{FF2B5EF4-FFF2-40B4-BE49-F238E27FC236}">
                <a16:creationId xmlns:a16="http://schemas.microsoft.com/office/drawing/2014/main" id="{D36129DD-2668-7C37-05DB-A36D35CD99B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78552" y="4217733"/>
            <a:ext cx="3786699" cy="19245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CAD32E25-64D2-3FB2-287E-67EBC3A5FD78}"/>
              </a:ext>
            </a:extLst>
          </p:cNvPr>
          <p:cNvSpPr txBox="1"/>
          <p:nvPr/>
        </p:nvSpPr>
        <p:spPr>
          <a:xfrm>
            <a:off x="2045631" y="6534834"/>
            <a:ext cx="2252540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/>
              <a:t>https://</a:t>
            </a:r>
            <a:r>
              <a:rPr lang="en-US" sz="800" dirty="0" err="1"/>
              <a:t>www.codingcreativo.it</a:t>
            </a:r>
            <a:r>
              <a:rPr lang="en-US" sz="800" dirty="0"/>
              <a:t>/python-quicksort/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67E8613-6A7E-DC78-1620-6FEC5F1730EA}"/>
              </a:ext>
            </a:extLst>
          </p:cNvPr>
          <p:cNvSpPr txBox="1"/>
          <p:nvPr/>
        </p:nvSpPr>
        <p:spPr>
          <a:xfrm>
            <a:off x="1956440" y="3886134"/>
            <a:ext cx="2341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Homework assignment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8C4E86-0E11-B8F0-0B4F-F551D75A62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B30462-0FD5-604F-8C98-DCC91BE84583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548862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14A9B4-E3B3-5855-CB27-02E8AF13F6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0F5F1F-633E-9CDE-749A-C1345C464E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Software Engineering?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B4FF0F-B660-8B26-5963-EB5ACD1620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2156440"/>
          </a:xfrm>
        </p:spPr>
        <p:txBody>
          <a:bodyPr/>
          <a:lstStyle/>
          <a:p>
            <a:r>
              <a:rPr lang="en-US" dirty="0"/>
              <a:t>Code Is Easy to Write, Hard to Manage</a:t>
            </a:r>
          </a:p>
          <a:p>
            <a:pPr lvl="1"/>
            <a:r>
              <a:rPr lang="en-US" b="1" dirty="0"/>
              <a:t>Example</a:t>
            </a:r>
            <a:r>
              <a:rPr lang="en-US" dirty="0"/>
              <a:t>: A prototype written in a hackathon might work once, but will break with real users, multiple developers, or scaling needs</a:t>
            </a:r>
          </a:p>
          <a:p>
            <a:pPr lvl="1"/>
            <a:r>
              <a:rPr lang="en-US" b="1" dirty="0"/>
              <a:t>Point</a:t>
            </a:r>
            <a:r>
              <a:rPr lang="en-US" dirty="0"/>
              <a:t>: SE helps manage complexity, especially in large teams and long-term projects</a:t>
            </a:r>
          </a:p>
          <a:p>
            <a:pPr lvl="1"/>
            <a:endParaRPr lang="en-US" dirty="0"/>
          </a:p>
          <a:p>
            <a:endParaRPr lang="en-US" i="1" dirty="0"/>
          </a:p>
          <a:p>
            <a:endParaRPr lang="en-US" dirty="0"/>
          </a:p>
          <a:p>
            <a:pPr lvl="1"/>
            <a:endParaRPr lang="en-US" dirty="0"/>
          </a:p>
        </p:txBody>
      </p:sp>
      <p:pic>
        <p:nvPicPr>
          <p:cNvPr id="1026" name="Picture 2" descr="A map  of the Linux Kernel source code.">
            <a:extLst>
              <a:ext uri="{FF2B5EF4-FFF2-40B4-BE49-F238E27FC236}">
                <a16:creationId xmlns:a16="http://schemas.microsoft.com/office/drawing/2014/main" id="{8E9CAD67-DB96-3738-E0F4-7C1E6C97997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56837" y="3836405"/>
            <a:ext cx="3786699" cy="26564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CFB86935-6CBB-9434-0001-356A127E2BAB}"/>
              </a:ext>
            </a:extLst>
          </p:cNvPr>
          <p:cNvSpPr txBox="1"/>
          <p:nvPr/>
        </p:nvSpPr>
        <p:spPr>
          <a:xfrm>
            <a:off x="6063956" y="6642556"/>
            <a:ext cx="4772460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/>
              <a:t>https://</a:t>
            </a:r>
            <a:r>
              <a:rPr lang="en-US" sz="800" dirty="0" err="1"/>
              <a:t>medium.freecodecamp.org</a:t>
            </a:r>
            <a:r>
              <a:rPr lang="en-US" sz="800" dirty="0"/>
              <a:t>/building-and-installing-the-latest-linux-kernel-from-source-6d8df5345980</a:t>
            </a:r>
          </a:p>
        </p:txBody>
      </p:sp>
      <p:pic>
        <p:nvPicPr>
          <p:cNvPr id="1028" name="Picture 4" descr="Python Quicksort, algoritmo di ordinamento Python">
            <a:extLst>
              <a:ext uri="{FF2B5EF4-FFF2-40B4-BE49-F238E27FC236}">
                <a16:creationId xmlns:a16="http://schemas.microsoft.com/office/drawing/2014/main" id="{92714EF3-AC68-64D8-8D91-9BEF8B7FCA4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78552" y="4217733"/>
            <a:ext cx="3786699" cy="19245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D8CD4512-50B6-1886-5D11-490DA93C8426}"/>
              </a:ext>
            </a:extLst>
          </p:cNvPr>
          <p:cNvSpPr txBox="1"/>
          <p:nvPr/>
        </p:nvSpPr>
        <p:spPr>
          <a:xfrm>
            <a:off x="2045631" y="6534834"/>
            <a:ext cx="2252540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/>
              <a:t>https://</a:t>
            </a:r>
            <a:r>
              <a:rPr lang="en-US" sz="800" dirty="0" err="1"/>
              <a:t>www.codingcreativo.it</a:t>
            </a:r>
            <a:r>
              <a:rPr lang="en-US" sz="800" dirty="0"/>
              <a:t>/python-quicksort/</a:t>
            </a:r>
          </a:p>
        </p:txBody>
      </p:sp>
      <p:sp>
        <p:nvSpPr>
          <p:cNvPr id="6" name="Right Arrow 5">
            <a:extLst>
              <a:ext uri="{FF2B5EF4-FFF2-40B4-BE49-F238E27FC236}">
                <a16:creationId xmlns:a16="http://schemas.microsoft.com/office/drawing/2014/main" id="{DC7A71A4-A9D1-C948-E5E4-2078F09E1C52}"/>
              </a:ext>
            </a:extLst>
          </p:cNvPr>
          <p:cNvSpPr/>
          <p:nvPr/>
        </p:nvSpPr>
        <p:spPr>
          <a:xfrm>
            <a:off x="5270090" y="4906297"/>
            <a:ext cx="1042220" cy="38345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BB6EF55-6D41-C6E2-EEE2-7C5E400367D9}"/>
              </a:ext>
            </a:extLst>
          </p:cNvPr>
          <p:cNvSpPr txBox="1"/>
          <p:nvPr/>
        </p:nvSpPr>
        <p:spPr>
          <a:xfrm>
            <a:off x="1956440" y="3886134"/>
            <a:ext cx="2341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Homework assignment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265D3F7-6E79-5AFA-09BE-36E07A51A1D8}"/>
              </a:ext>
            </a:extLst>
          </p:cNvPr>
          <p:cNvSpPr txBox="1"/>
          <p:nvPr/>
        </p:nvSpPr>
        <p:spPr>
          <a:xfrm>
            <a:off x="6723985" y="3516802"/>
            <a:ext cx="32308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Real large-scale software project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3B92DE5-EF75-07A5-E85D-DE0815F544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B30462-0FD5-604F-8C98-DCC91BE84583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364274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AF5157-AE3C-15D6-DDB0-06CE926874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Software Engineering?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5E7822-1B24-87FE-9DC1-4184AB9A37D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Modern software = millions of lines of code</a:t>
            </a:r>
          </a:p>
          <a:p>
            <a:pPr lvl="1"/>
            <a:r>
              <a:rPr lang="en-US" dirty="0">
                <a:hlinkClick r:id="rId2" tooltip="Google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Google</a:t>
            </a:r>
            <a:r>
              <a:rPr lang="en-US" sz="2400" dirty="0"/>
              <a:t>: 9 million source code files, 2 billion lines of source code</a:t>
            </a:r>
            <a:r>
              <a:rPr lang="zh-CN" altLang="en-US" sz="2400" dirty="0"/>
              <a:t> </a:t>
            </a:r>
            <a:r>
              <a:rPr lang="en-US" altLang="zh-CN" sz="2400" dirty="0"/>
              <a:t>(as</a:t>
            </a:r>
            <a:r>
              <a:rPr lang="zh-CN" altLang="en-US" sz="2400" dirty="0"/>
              <a:t> </a:t>
            </a:r>
            <a:r>
              <a:rPr lang="en-US" altLang="zh-CN" sz="2400" dirty="0"/>
              <a:t>of</a:t>
            </a:r>
            <a:r>
              <a:rPr lang="zh-CN" altLang="en-US" sz="2400" dirty="0"/>
              <a:t> </a:t>
            </a:r>
            <a:r>
              <a:rPr lang="en-US" altLang="zh-CN" sz="2400" dirty="0"/>
              <a:t>2015)</a:t>
            </a:r>
          </a:p>
          <a:p>
            <a:pPr lvl="1"/>
            <a:r>
              <a:rPr lang="en-US" altLang="zh-CN" u="sng" dirty="0"/>
              <a:t>Facebook</a:t>
            </a:r>
            <a:r>
              <a:rPr lang="en-US" altLang="zh-CN" dirty="0"/>
              <a:t>:</a:t>
            </a:r>
            <a:r>
              <a:rPr lang="zh-CN" altLang="en-US" dirty="0"/>
              <a:t> </a:t>
            </a:r>
            <a:r>
              <a:rPr lang="en-US" altLang="zh-CN" dirty="0"/>
              <a:t>9.9</a:t>
            </a:r>
            <a:r>
              <a:rPr lang="zh-CN" altLang="en-US" dirty="0"/>
              <a:t> </a:t>
            </a:r>
            <a:r>
              <a:rPr lang="en-US" altLang="zh-CN" dirty="0"/>
              <a:t>million</a:t>
            </a:r>
            <a:r>
              <a:rPr lang="zh-CN" altLang="en-US" dirty="0"/>
              <a:t> </a:t>
            </a:r>
            <a:r>
              <a:rPr lang="en-US" altLang="zh-CN" dirty="0"/>
              <a:t>lines</a:t>
            </a:r>
            <a:r>
              <a:rPr lang="zh-CN" altLang="en-US" dirty="0"/>
              <a:t> </a:t>
            </a:r>
            <a:r>
              <a:rPr lang="en-US" altLang="zh-CN" dirty="0"/>
              <a:t>of</a:t>
            </a:r>
            <a:r>
              <a:rPr lang="zh-CN" altLang="en-US" dirty="0"/>
              <a:t> </a:t>
            </a:r>
            <a:r>
              <a:rPr lang="en-US" altLang="zh-CN" dirty="0"/>
              <a:t>open</a:t>
            </a:r>
            <a:r>
              <a:rPr lang="zh-CN" altLang="en-US" dirty="0"/>
              <a:t> </a:t>
            </a:r>
            <a:r>
              <a:rPr lang="en-US" altLang="zh-CN" dirty="0"/>
              <a:t>source</a:t>
            </a:r>
            <a:r>
              <a:rPr lang="zh-CN" altLang="en-US" dirty="0"/>
              <a:t> </a:t>
            </a:r>
            <a:r>
              <a:rPr lang="en-US" altLang="zh-CN" dirty="0"/>
              <a:t>code</a:t>
            </a:r>
            <a:r>
              <a:rPr lang="zh-CN" altLang="en-US" dirty="0"/>
              <a:t> </a:t>
            </a:r>
            <a:r>
              <a:rPr lang="en-US" altLang="zh-CN" dirty="0"/>
              <a:t>(as</a:t>
            </a:r>
            <a:r>
              <a:rPr lang="zh-CN" altLang="en-US" dirty="0"/>
              <a:t> </a:t>
            </a:r>
            <a:r>
              <a:rPr lang="en-US" altLang="zh-CN" dirty="0"/>
              <a:t>of</a:t>
            </a:r>
            <a:r>
              <a:rPr lang="zh-CN" altLang="en-US" dirty="0"/>
              <a:t> </a:t>
            </a:r>
            <a:r>
              <a:rPr lang="en-US" altLang="zh-CN" dirty="0"/>
              <a:t>2014)</a:t>
            </a:r>
            <a:endParaRPr lang="en-US" sz="2400" dirty="0"/>
          </a:p>
          <a:p>
            <a:pPr lvl="1"/>
            <a:r>
              <a:rPr lang="en-US" dirty="0">
                <a:hlinkClick r:id="rId3" tooltip="Linux kernel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Linux kernel</a:t>
            </a:r>
            <a:r>
              <a:rPr lang="en-US" sz="2400" dirty="0"/>
              <a:t>: over 15 million lines of code (as of 2013)</a:t>
            </a:r>
            <a:endParaRPr lang="en-US" dirty="0"/>
          </a:p>
          <a:p>
            <a:r>
              <a:rPr lang="en-US" dirty="0"/>
              <a:t>Used by millions, across multiple platforms</a:t>
            </a:r>
          </a:p>
          <a:p>
            <a:pPr lvl="1"/>
            <a:r>
              <a:rPr lang="en-US" altLang="zh-CN" dirty="0"/>
              <a:t>Web,</a:t>
            </a:r>
            <a:r>
              <a:rPr lang="zh-CN" altLang="en-US" dirty="0"/>
              <a:t> </a:t>
            </a:r>
            <a:r>
              <a:rPr lang="en-US" altLang="zh-CN" dirty="0"/>
              <a:t>desktop,</a:t>
            </a:r>
            <a:r>
              <a:rPr lang="zh-CN" altLang="en-US" dirty="0"/>
              <a:t> </a:t>
            </a:r>
            <a:r>
              <a:rPr lang="en-US" altLang="zh-CN" dirty="0"/>
              <a:t>mobile</a:t>
            </a:r>
            <a:endParaRPr lang="en-US" dirty="0"/>
          </a:p>
          <a:p>
            <a:r>
              <a:rPr lang="en-US" b="1" dirty="0"/>
              <a:t>Errors are costly</a:t>
            </a:r>
            <a:r>
              <a:rPr lang="en-US" dirty="0"/>
              <a:t>: time, money, reputation, lives.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CB5E7C6-E0E2-2E5F-8985-E19D18DE69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B30462-0FD5-604F-8C98-DCC91BE84583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470638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054EF-A8E6-1115-9170-E55FE2C4CE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Ariane 5 Flight 501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7FB78D-BF9D-CA60-A0CB-70D0D460C8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910633"/>
          </a:xfrm>
        </p:spPr>
        <p:txBody>
          <a:bodyPr/>
          <a:lstStyle/>
          <a:p>
            <a:r>
              <a:rPr lang="en-US" dirty="0"/>
              <a:t>Left/center: liftoff (June 4th, 1996)</a:t>
            </a:r>
          </a:p>
          <a:p>
            <a:r>
              <a:rPr lang="en-US" dirty="0"/>
              <a:t>Right: self-destruct after 39 seconds</a:t>
            </a:r>
          </a:p>
          <a:p>
            <a:r>
              <a:rPr lang="en-US" dirty="0"/>
              <a:t>~ 500 million US-$ damage</a:t>
            </a:r>
          </a:p>
          <a:p>
            <a:endParaRPr lang="en-US" dirty="0"/>
          </a:p>
          <a:p>
            <a:endParaRPr lang="en-US" dirty="0"/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8906C733-17D1-B7EB-94BE-B378F2F3427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66121" y="3871195"/>
            <a:ext cx="5859757" cy="23722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898CFD1D-340D-4B43-3819-7453216068D3}"/>
              </a:ext>
            </a:extLst>
          </p:cNvPr>
          <p:cNvSpPr txBox="1"/>
          <p:nvPr/>
        </p:nvSpPr>
        <p:spPr>
          <a:xfrm>
            <a:off x="4371007" y="6492875"/>
            <a:ext cx="3449983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/>
              <a:t>Image source: https://www-</a:t>
            </a:r>
            <a:r>
              <a:rPr lang="en-US" sz="800" dirty="0" err="1"/>
              <a:t>users.cse.umn.edu</a:t>
            </a:r>
            <a:r>
              <a:rPr lang="en-US" sz="800" dirty="0"/>
              <a:t>/~</a:t>
            </a:r>
            <a:r>
              <a:rPr lang="en-US" sz="800" dirty="0" err="1"/>
              <a:t>arnold</a:t>
            </a:r>
            <a:r>
              <a:rPr lang="en-US" sz="800" dirty="0"/>
              <a:t>/disasters/</a:t>
            </a:r>
            <a:r>
              <a:rPr lang="en-US" sz="800" dirty="0" err="1"/>
              <a:t>ariane.html</a:t>
            </a:r>
            <a:endParaRPr lang="en-US" sz="80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661E454-8B30-6859-C4E1-0DFBFF9647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B30462-0FD5-604F-8C98-DCC91BE84583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754111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66F07E-9ECD-42B5-01B6-AA94DE12BC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93804F-E5C8-1224-A8AB-9CBC81105A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Ariane 5 Flight 501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13B000-D020-84E3-2FD2-65692E2DFC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86884" cy="4250710"/>
          </a:xfrm>
        </p:spPr>
        <p:txBody>
          <a:bodyPr>
            <a:normAutofit/>
          </a:bodyPr>
          <a:lstStyle/>
          <a:p>
            <a:r>
              <a:rPr lang="en-US" dirty="0"/>
              <a:t>Reasons: integer overflow</a:t>
            </a:r>
          </a:p>
          <a:p>
            <a:pPr lvl="1"/>
            <a:r>
              <a:rPr lang="en-US" dirty="0"/>
              <a:t>64-bit float velocity converted to 16-bit integer</a:t>
            </a:r>
          </a:p>
          <a:p>
            <a:pPr lvl="1"/>
            <a:r>
              <a:rPr lang="en-US" dirty="0"/>
              <a:t>Measurement &gt; 32768 → overflow → uncaught exception → system crash</a:t>
            </a:r>
          </a:p>
          <a:p>
            <a:r>
              <a:rPr lang="en-US" dirty="0"/>
              <a:t>Software reused from Ariane 4</a:t>
            </a:r>
          </a:p>
          <a:p>
            <a:pPr lvl="1"/>
            <a:r>
              <a:rPr lang="en-US" dirty="0"/>
              <a:t>Old rocket was slower, overflow impossible</a:t>
            </a:r>
          </a:p>
          <a:p>
            <a:pPr lvl="1"/>
            <a:r>
              <a:rPr lang="en-US" dirty="0"/>
              <a:t>No overflow handler → system crash with Ariane 5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7CCF8F5-F445-E64A-0214-0516367D6F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B30462-0FD5-604F-8C98-DCC91BE84583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911143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C72341-0174-D0A6-E5BA-D42BCBEA92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Famous software failure</a:t>
            </a:r>
            <a:r>
              <a:rPr lang="en-US" altLang="zh-CN" dirty="0"/>
              <a:t>:</a:t>
            </a:r>
            <a:r>
              <a:rPr lang="zh-CN" altLang="en-US" dirty="0"/>
              <a:t> </a:t>
            </a:r>
            <a:r>
              <a:rPr lang="en-US" dirty="0"/>
              <a:t>Therac-25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95DF1A-B2C5-7B52-CB7C-8EF3E55D02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(1985–87): Radiation overdoses → patient deaths.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0C8FBBD-7B67-7802-D131-361764F451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B30462-0FD5-604F-8C98-DCC91BE84583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684661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46770A-5929-A153-7F2D-C698AF57E5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zh-CN" dirty="0"/>
              <a:t>Northeast Blackout of 2003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1220A7C-5D0D-F641-0189-DF32B5F529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7909874" cy="4351338"/>
          </a:xfrm>
        </p:spPr>
        <p:txBody>
          <a:bodyPr/>
          <a:lstStyle/>
          <a:p>
            <a:r>
              <a:rPr lang="en-US" dirty="0"/>
              <a:t>The world’s second most widespread blackout in history at its time</a:t>
            </a:r>
          </a:p>
          <a:p>
            <a:r>
              <a:rPr lang="en-US" dirty="0"/>
              <a:t>Affected an estimated 55 million people (14,300,000 affected in NYC and its surroundings)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F80D697-39C4-274C-DA5B-0D4CE7FC8969}"/>
              </a:ext>
            </a:extLst>
          </p:cNvPr>
          <p:cNvSpPr txBox="1"/>
          <p:nvPr/>
        </p:nvSpPr>
        <p:spPr>
          <a:xfrm>
            <a:off x="4557758" y="6204178"/>
            <a:ext cx="3076483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/>
              <a:t>Source: https://</a:t>
            </a:r>
            <a:r>
              <a:rPr lang="en-US" sz="800" dirty="0" err="1"/>
              <a:t>en.wikipedia.org</a:t>
            </a:r>
            <a:r>
              <a:rPr lang="en-US" sz="800" dirty="0"/>
              <a:t>/wiki/Northeast_blackout_of_2003</a:t>
            </a:r>
          </a:p>
        </p:txBody>
      </p:sp>
      <p:pic>
        <p:nvPicPr>
          <p:cNvPr id="2050" name="Picture 2" descr="undefined">
            <a:extLst>
              <a:ext uri="{FF2B5EF4-FFF2-40B4-BE49-F238E27FC236}">
                <a16:creationId xmlns:a16="http://schemas.microsoft.com/office/drawing/2014/main" id="{0029C3C4-8AB1-3354-FF6F-D88F7460357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45629" y="1734206"/>
            <a:ext cx="2855129" cy="33218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9584316-AD64-BA10-EB57-5DC3BDEC5A35}"/>
              </a:ext>
            </a:extLst>
          </p:cNvPr>
          <p:cNvSpPr txBox="1"/>
          <p:nvPr/>
        </p:nvSpPr>
        <p:spPr>
          <a:xfrm>
            <a:off x="9605349" y="5288438"/>
            <a:ext cx="13356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Outage map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DF0552E-B376-F0A6-E490-51D6C6AA5F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B30462-0FD5-604F-8C98-DCC91BE84583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90559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D7DF56-5962-E5A5-2310-21FEE4A687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B9E940-2763-1C70-B482-1017E1ADA1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zh-CN" dirty="0"/>
              <a:t>Northeast Blackout of 2003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73D253-FAE2-E48A-5A7F-57EBCBA29F4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7909874" cy="4351338"/>
          </a:xfrm>
        </p:spPr>
        <p:txBody>
          <a:bodyPr/>
          <a:lstStyle/>
          <a:p>
            <a:r>
              <a:rPr lang="en-US" dirty="0"/>
              <a:t>A race condition existed in General Electric Energy's Unix-based XA/21 energy management system</a:t>
            </a:r>
          </a:p>
          <a:p>
            <a:pPr lvl="1"/>
            <a:r>
              <a:rPr lang="en-US" dirty="0"/>
              <a:t>Compiled from 4 million lines of C code</a:t>
            </a:r>
          </a:p>
          <a:p>
            <a:r>
              <a:rPr lang="en-US" dirty="0"/>
              <a:t>The triggered race condition stalled the control room’s alarm system for over an hour</a:t>
            </a:r>
          </a:p>
          <a:p>
            <a:pPr lvl="1"/>
            <a:r>
              <a:rPr lang="en-US" dirty="0"/>
              <a:t>Two processes both got write access to a shared data structure at the same time</a:t>
            </a:r>
          </a:p>
          <a:p>
            <a:pPr lvl="1"/>
            <a:r>
              <a:rPr lang="en-US" dirty="0"/>
              <a:t>Exhaustive testing did not find the bug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2AF2FD2-7CDA-1832-EE40-8F8C3D68281C}"/>
              </a:ext>
            </a:extLst>
          </p:cNvPr>
          <p:cNvSpPr txBox="1"/>
          <p:nvPr/>
        </p:nvSpPr>
        <p:spPr>
          <a:xfrm>
            <a:off x="3733015" y="6311900"/>
            <a:ext cx="4328429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/>
              <a:t>Source: https://</a:t>
            </a:r>
            <a:r>
              <a:rPr lang="en-US" sz="800" dirty="0" err="1"/>
              <a:t>web.archive.org</a:t>
            </a:r>
            <a:r>
              <a:rPr lang="en-US" sz="800" dirty="0"/>
              <a:t>/web/20110610163731/http://</a:t>
            </a:r>
            <a:r>
              <a:rPr lang="en-US" sz="800" dirty="0" err="1"/>
              <a:t>www.securityfocus.com</a:t>
            </a:r>
            <a:r>
              <a:rPr lang="en-US" sz="800" dirty="0"/>
              <a:t>/news/8412</a:t>
            </a:r>
          </a:p>
        </p:txBody>
      </p:sp>
      <p:pic>
        <p:nvPicPr>
          <p:cNvPr id="2050" name="Picture 2" descr="undefined">
            <a:extLst>
              <a:ext uri="{FF2B5EF4-FFF2-40B4-BE49-F238E27FC236}">
                <a16:creationId xmlns:a16="http://schemas.microsoft.com/office/drawing/2014/main" id="{8770B641-0BD6-EFE0-E1DB-038B3468F08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45629" y="1734206"/>
            <a:ext cx="2855129" cy="33218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7C6A417A-2E43-62C3-54BA-52B74821ADB6}"/>
              </a:ext>
            </a:extLst>
          </p:cNvPr>
          <p:cNvSpPr txBox="1"/>
          <p:nvPr/>
        </p:nvSpPr>
        <p:spPr>
          <a:xfrm>
            <a:off x="9605349" y="5288438"/>
            <a:ext cx="13356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Outage map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778C621-1A04-9BD0-6409-6486BEE664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B30462-0FD5-604F-8C98-DCC91BE84583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924413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3E3783-9AF7-384F-4997-DFC6F85D64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Northeast Blackout of 2003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DA4189-E618-CB5C-4507-BFC626FF2BD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4650639" cy="4351338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The milky way became visible in populated areas during the power outage</a:t>
            </a:r>
          </a:p>
        </p:txBody>
      </p:sp>
      <p:pic>
        <p:nvPicPr>
          <p:cNvPr id="3074" name="Picture 2" descr="Power outage demonstrates how irresponsible lighting has stolen our night sky.">
            <a:extLst>
              <a:ext uri="{FF2B5EF4-FFF2-40B4-BE49-F238E27FC236}">
                <a16:creationId xmlns:a16="http://schemas.microsoft.com/office/drawing/2014/main" id="{3990A6E0-C537-7449-9F53-BCA583B738C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19800" y="1690688"/>
            <a:ext cx="5617314" cy="38366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A6DBC693-A5B3-B64D-66BF-FBCBFBB5CA13}"/>
              </a:ext>
            </a:extLst>
          </p:cNvPr>
          <p:cNvSpPr txBox="1"/>
          <p:nvPr/>
        </p:nvSpPr>
        <p:spPr>
          <a:xfrm>
            <a:off x="6703162" y="5578396"/>
            <a:ext cx="14168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Normal night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4A5A95E-B18A-5739-1ECA-8071E3306DB9}"/>
              </a:ext>
            </a:extLst>
          </p:cNvPr>
          <p:cNvSpPr txBox="1"/>
          <p:nvPr/>
        </p:nvSpPr>
        <p:spPr>
          <a:xfrm>
            <a:off x="9356764" y="5578396"/>
            <a:ext cx="18839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During the outage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C0BF798-741B-E36F-676C-7E8D8462EB3F}"/>
              </a:ext>
            </a:extLst>
          </p:cNvPr>
          <p:cNvSpPr txBox="1"/>
          <p:nvPr/>
        </p:nvSpPr>
        <p:spPr>
          <a:xfrm>
            <a:off x="7722224" y="6385153"/>
            <a:ext cx="2212465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/>
              <a:t>Source: http://</a:t>
            </a:r>
            <a:r>
              <a:rPr lang="en-US" sz="800" dirty="0" err="1"/>
              <a:t>www.illinoislighting.org</a:t>
            </a:r>
            <a:r>
              <a:rPr lang="en-US" sz="800" dirty="0"/>
              <a:t>/</a:t>
            </a:r>
            <a:r>
              <a:rPr lang="en-US" sz="800" dirty="0" err="1"/>
              <a:t>loss.html</a:t>
            </a:r>
            <a:endParaRPr lang="en-US" sz="800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29F0F1C-DF72-F8D2-B7B4-78FB4873C7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B30462-0FD5-604F-8C98-DCC91BE84583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191931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DDC706-6DF4-4784-1288-A2C738F2B6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Challenges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77B5F0-E3D4-5EA8-25B2-827B3248387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Growing complexity</a:t>
            </a:r>
          </a:p>
          <a:p>
            <a:r>
              <a:rPr lang="en-US" dirty="0"/>
              <a:t>Changing requirements</a:t>
            </a:r>
          </a:p>
          <a:p>
            <a:r>
              <a:rPr lang="en-US" dirty="0"/>
              <a:t>Large teams &amp; coordination</a:t>
            </a:r>
          </a:p>
          <a:p>
            <a:r>
              <a:rPr lang="en-US" dirty="0"/>
              <a:t>Testing &amp; quality assurance</a:t>
            </a:r>
          </a:p>
          <a:p>
            <a:r>
              <a:rPr lang="en-US" dirty="0"/>
              <a:t>Performance &amp; scalability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757463-DBAA-F968-501F-8CE1AF7125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B30462-0FD5-604F-8C98-DCC91BE84583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334619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90F1D7-C446-79BB-32A4-7B1FFD18A0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Core Principles to Tame Complexity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17E400-BF70-0C73-AD90-B4C1D48FBFA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Abstraction</a:t>
            </a:r>
            <a:r>
              <a:rPr lang="en-US" dirty="0"/>
              <a:t> — focus on the “what” not the “how”</a:t>
            </a:r>
          </a:p>
          <a:p>
            <a:r>
              <a:rPr lang="en-US" b="1" dirty="0"/>
              <a:t>Modularity</a:t>
            </a:r>
            <a:r>
              <a:rPr lang="en-US" dirty="0"/>
              <a:t> — divide and conquer</a:t>
            </a:r>
          </a:p>
          <a:p>
            <a:r>
              <a:rPr lang="en-US" b="1" dirty="0"/>
              <a:t>Encapsulation</a:t>
            </a:r>
            <a:r>
              <a:rPr lang="en-US" dirty="0"/>
              <a:t> — control access to internal details</a:t>
            </a:r>
          </a:p>
          <a:p>
            <a:r>
              <a:rPr lang="en-US" b="1" dirty="0"/>
              <a:t>Separation of Concerns</a:t>
            </a:r>
            <a:r>
              <a:rPr lang="en-US" dirty="0"/>
              <a:t> — each part handles one responsibility</a:t>
            </a:r>
          </a:p>
          <a:p>
            <a:r>
              <a:rPr lang="en-US" b="1" dirty="0"/>
              <a:t>Iterative Development</a:t>
            </a:r>
            <a:r>
              <a:rPr lang="en-US" dirty="0"/>
              <a:t> — build, test, refine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E070D03-A234-4107-5117-503D534916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B30462-0FD5-604F-8C98-DCC91BE84583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065607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BAE1B0-5701-1C38-20FE-7B30D773EC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Software Engineering in the Real World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71ECC9-6F7A-2A7C-0B88-CEE2F172370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~70%</a:t>
            </a:r>
            <a:r>
              <a:rPr lang="en-US" dirty="0"/>
              <a:t> of cost = maintenance </a:t>
            </a:r>
            <a:r>
              <a:rPr lang="en-US" baseline="30000" dirty="0"/>
              <a:t>1</a:t>
            </a:r>
          </a:p>
          <a:p>
            <a:r>
              <a:rPr lang="en-US" dirty="0"/>
              <a:t>Good SE → reliability, maintainability, scalability</a:t>
            </a:r>
          </a:p>
          <a:p>
            <a:r>
              <a:rPr lang="en-US" dirty="0"/>
              <a:t>Examples: Linux kernel, SpaceX flight software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A989A9F-D104-9EA4-E89D-D2CCA51DAFD9}"/>
              </a:ext>
            </a:extLst>
          </p:cNvPr>
          <p:cNvSpPr txBox="1"/>
          <p:nvPr/>
        </p:nvSpPr>
        <p:spPr>
          <a:xfrm>
            <a:off x="4432169" y="5973346"/>
            <a:ext cx="332766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/>
              <a:t>1: Software Evolution and Maintenance: A Practitioner's Approach, 2014</a:t>
            </a:r>
          </a:p>
          <a:p>
            <a:pPr algn="ctr"/>
            <a:endParaRPr lang="en-US" sz="80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AE9168A-924A-C3C8-5B9F-7479FD7A75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B30462-0FD5-604F-8C98-DCC91BE84583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485800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823774-F0EF-70C3-4D61-2F802AA1E8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E6D4B7-B2FA-D59B-612D-D25D48A29B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Main Topics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C99B97-2CFE-2C5D-8B48-50C1BFE3999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Building Quality Code</a:t>
            </a:r>
          </a:p>
          <a:p>
            <a:pPr lvl="1"/>
            <a:r>
              <a:rPr lang="en-US" altLang="zh-CN" dirty="0"/>
              <a:t>Usable</a:t>
            </a:r>
            <a:endParaRPr lang="en-US" dirty="0"/>
          </a:p>
          <a:p>
            <a:pPr lvl="1"/>
            <a:r>
              <a:rPr lang="en-US" dirty="0"/>
              <a:t>Less error-prone</a:t>
            </a:r>
          </a:p>
          <a:p>
            <a:pPr lvl="1"/>
            <a:r>
              <a:rPr lang="en-US" dirty="0"/>
              <a:t>Easier to maintain</a:t>
            </a:r>
          </a:p>
          <a:p>
            <a:pPr lvl="1"/>
            <a:r>
              <a:rPr lang="en-US" dirty="0"/>
              <a:t>…</a:t>
            </a:r>
          </a:p>
          <a:p>
            <a:pPr lvl="1"/>
            <a:endParaRPr lang="en-US" dirty="0"/>
          </a:p>
          <a:p>
            <a:endParaRPr lang="en-US" dirty="0"/>
          </a:p>
          <a:p>
            <a:pPr lvl="1"/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8DFCB29-7BEC-DBA4-FA25-0936B3BCA39B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en-US" dirty="0"/>
              <a:t>Managing Software Projects</a:t>
            </a:r>
          </a:p>
          <a:p>
            <a:pPr lvl="1"/>
            <a:r>
              <a:rPr lang="en-US" dirty="0"/>
              <a:t>Meet the user requirements</a:t>
            </a:r>
          </a:p>
          <a:p>
            <a:pPr lvl="1"/>
            <a:r>
              <a:rPr lang="en-US" dirty="0"/>
              <a:t>Delivered in a timely manner</a:t>
            </a:r>
          </a:p>
          <a:p>
            <a:pPr lvl="1"/>
            <a:r>
              <a:rPr lang="en-US" dirty="0"/>
              <a:t>…</a:t>
            </a:r>
          </a:p>
          <a:p>
            <a:pPr lvl="1"/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4B8F4CE-1F36-BBFB-DD9F-9CA6728F82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B30462-0FD5-604F-8C98-DCC91BE84583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074717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A38AE5-745B-900B-0855-9E7C8D24FE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4970A4-4BCD-7BCE-4CEE-BC3AD74EDE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Main Topics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4215CC-51FB-98A1-0516-D697EDCA7D08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Building Quality Code</a:t>
            </a:r>
          </a:p>
          <a:p>
            <a:pPr lvl="1"/>
            <a:r>
              <a:rPr lang="en-US" dirty="0"/>
              <a:t>Object-oriented programming</a:t>
            </a:r>
          </a:p>
          <a:p>
            <a:pPr lvl="1"/>
            <a:r>
              <a:rPr lang="en-US" dirty="0"/>
              <a:t>UML &amp; design patterns</a:t>
            </a:r>
          </a:p>
          <a:p>
            <a:pPr lvl="1"/>
            <a:r>
              <a:rPr lang="en-US" dirty="0"/>
              <a:t>Testing</a:t>
            </a:r>
          </a:p>
          <a:p>
            <a:pPr lvl="1"/>
            <a:r>
              <a:rPr lang="en-US" dirty="0"/>
              <a:t>Code quality</a:t>
            </a:r>
          </a:p>
          <a:p>
            <a:pPr lvl="1"/>
            <a:endParaRPr lang="en-US" dirty="0"/>
          </a:p>
          <a:p>
            <a:endParaRPr lang="en-US" dirty="0"/>
          </a:p>
          <a:p>
            <a:pPr lvl="1"/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2466390-8075-FD6C-8D21-746B8B3FF913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en-US" dirty="0"/>
              <a:t>Managing Software Projects</a:t>
            </a:r>
          </a:p>
          <a:p>
            <a:pPr lvl="1"/>
            <a:r>
              <a:rPr lang="en-US" dirty="0"/>
              <a:t>Software development process</a:t>
            </a:r>
          </a:p>
          <a:p>
            <a:pPr lvl="1"/>
            <a:r>
              <a:rPr lang="en-US" dirty="0"/>
              <a:t>Requirements engineering</a:t>
            </a:r>
          </a:p>
          <a:p>
            <a:pPr lvl="1"/>
            <a:r>
              <a:rPr lang="en-US" dirty="0"/>
              <a:t>Tools: Git, CI/CD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7CF2FA5-04FD-8501-2964-73001ABD97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B30462-0FD5-604F-8C98-DCC91BE84583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131361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985D17-D04E-6D4A-9021-22B5B15686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F61C79-879C-DA17-5F9B-3311663547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Miscellaneous Topics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874FC8-DAF4-AE7C-EC99-0F77DDFE0D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Web development</a:t>
            </a:r>
            <a:r>
              <a:rPr lang="zh-CN" altLang="en-US" dirty="0"/>
              <a:t> </a:t>
            </a:r>
            <a:r>
              <a:rPr lang="en-US" altLang="zh-CN" dirty="0"/>
              <a:t>basics</a:t>
            </a:r>
            <a:endParaRPr lang="en-US" dirty="0"/>
          </a:p>
          <a:p>
            <a:pPr lvl="1"/>
            <a:r>
              <a:rPr lang="en-US" dirty="0"/>
              <a:t>Front end/back end interaction</a:t>
            </a:r>
          </a:p>
          <a:p>
            <a:r>
              <a:rPr lang="en-US" altLang="zh-CN" dirty="0"/>
              <a:t>Concurrency</a:t>
            </a:r>
          </a:p>
          <a:p>
            <a:pPr lvl="1"/>
            <a:r>
              <a:rPr lang="en-US" altLang="zh-CN" dirty="0"/>
              <a:t>Improve</a:t>
            </a:r>
            <a:r>
              <a:rPr lang="zh-CN" altLang="en-US" dirty="0"/>
              <a:t> </a:t>
            </a:r>
            <a:r>
              <a:rPr lang="en-US" altLang="zh-CN" dirty="0"/>
              <a:t>scalability</a:t>
            </a:r>
            <a:endParaRPr lang="en-US" dirty="0"/>
          </a:p>
          <a:p>
            <a:endParaRPr lang="en-US" dirty="0"/>
          </a:p>
          <a:p>
            <a:pPr lvl="1"/>
            <a:endParaRPr lang="en-US" dirty="0"/>
          </a:p>
          <a:p>
            <a:endParaRPr lang="en-US" dirty="0"/>
          </a:p>
          <a:p>
            <a:pPr lvl="1"/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64E30EA-2994-CE6C-BE72-2EC821D820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B30462-0FD5-604F-8C98-DCC91BE84583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873748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2729CB-0960-6997-CBE8-37D8858DA0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Acknowledgements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390941-739F-1D0B-49B3-899054F005B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Course materials are inspired by or adapted from previous offerings of CISC 6100 by Prof. Bill Lord, and open source teaching materials by Prof. Florian </a:t>
            </a:r>
            <a:r>
              <a:rPr lang="en-US" dirty="0" err="1"/>
              <a:t>Echtler</a:t>
            </a:r>
            <a:r>
              <a:rPr lang="en-US" dirty="0"/>
              <a:t>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B6076FC-7E5B-714F-2A24-E45AA3B5F5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B30462-0FD5-604F-8C98-DCC91BE84583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959439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1B5652-0A0C-D84D-A68C-2537E6823D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38CADF-BE77-DE6C-63FE-E997C80592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Course logistics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5C16D0-F01F-DC8F-D5F1-DFF527015B4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Textbook (reference)</a:t>
            </a:r>
          </a:p>
          <a:p>
            <a:pPr lvl="1"/>
            <a:r>
              <a:rPr lang="en-US" dirty="0"/>
              <a:t>Software Engineering</a:t>
            </a:r>
            <a:r>
              <a:rPr lang="zh-CN" altLang="en-US" dirty="0"/>
              <a:t> </a:t>
            </a:r>
            <a:r>
              <a:rPr lang="en-US" altLang="zh-CN" dirty="0"/>
              <a:t>10th</a:t>
            </a:r>
            <a:r>
              <a:rPr lang="zh-CN" altLang="en-US" dirty="0"/>
              <a:t> </a:t>
            </a:r>
            <a:r>
              <a:rPr lang="en-US" altLang="zh-CN" dirty="0"/>
              <a:t>edition,</a:t>
            </a:r>
            <a:r>
              <a:rPr lang="zh-CN" altLang="en-US" dirty="0"/>
              <a:t> </a:t>
            </a:r>
            <a:r>
              <a:rPr lang="en-US" altLang="zh-CN" dirty="0"/>
              <a:t>by</a:t>
            </a:r>
            <a:r>
              <a:rPr lang="en-US" dirty="0"/>
              <a:t> Ian Sommerville</a:t>
            </a:r>
          </a:p>
          <a:p>
            <a:r>
              <a:rPr lang="en-US" dirty="0"/>
              <a:t>Prerequisites</a:t>
            </a:r>
          </a:p>
          <a:p>
            <a:pPr lvl="1"/>
            <a:r>
              <a:rPr lang="en-US" dirty="0"/>
              <a:t>Basic programming skills</a:t>
            </a:r>
          </a:p>
          <a:p>
            <a:r>
              <a:rPr lang="en-US" dirty="0"/>
              <a:t>Final grade</a:t>
            </a:r>
          </a:p>
          <a:p>
            <a:pPr lvl="1"/>
            <a:r>
              <a:rPr lang="en-US" dirty="0"/>
              <a:t>20% homework assignments</a:t>
            </a:r>
          </a:p>
          <a:p>
            <a:pPr lvl="1"/>
            <a:r>
              <a:rPr lang="en-US" dirty="0"/>
              <a:t>20% midterm exam</a:t>
            </a:r>
          </a:p>
          <a:p>
            <a:pPr lvl="1"/>
            <a:r>
              <a:rPr lang="en-US" dirty="0"/>
              <a:t>60% software engineering project</a:t>
            </a:r>
          </a:p>
          <a:p>
            <a:endParaRPr lang="en-US" dirty="0"/>
          </a:p>
          <a:p>
            <a:pPr lvl="1"/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EE4AC1-1243-7F80-515D-03EE397D80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B30462-0FD5-604F-8C98-DCC91BE84583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587037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7CF2B7-80AC-CA7B-C097-F09CCBE35A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Semester</a:t>
            </a:r>
            <a:r>
              <a:rPr lang="en-US" altLang="zh-CN" dirty="0"/>
              <a:t>-Long</a:t>
            </a:r>
            <a:r>
              <a:rPr lang="en-US" dirty="0"/>
              <a:t> </a:t>
            </a:r>
            <a:r>
              <a:rPr lang="en-US" altLang="zh-CN" dirty="0"/>
              <a:t>P</a:t>
            </a:r>
            <a:r>
              <a:rPr lang="en-US" dirty="0"/>
              <a:t>roject – Gomoku </a:t>
            </a:r>
            <a:r>
              <a:rPr lang="en-US" altLang="zh-CN" dirty="0"/>
              <a:t>G</a:t>
            </a:r>
            <a:r>
              <a:rPr lang="en-US" dirty="0"/>
              <a:t>ame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C2992F-979A-8B66-CB05-BCA520B1A09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A</a:t>
            </a:r>
            <a:r>
              <a:rPr lang="zh-CN" altLang="en-US" dirty="0"/>
              <a:t> </a:t>
            </a:r>
            <a:r>
              <a:rPr lang="en-US" altLang="zh-CN" dirty="0"/>
              <a:t>simple</a:t>
            </a:r>
            <a:r>
              <a:rPr lang="zh-CN" altLang="en-US" dirty="0"/>
              <a:t> </a:t>
            </a:r>
            <a:r>
              <a:rPr lang="en-US" altLang="zh-CN" dirty="0"/>
              <a:t>game</a:t>
            </a:r>
            <a:r>
              <a:rPr lang="zh-CN" altLang="en-US" dirty="0"/>
              <a:t> </a:t>
            </a:r>
            <a:r>
              <a:rPr lang="en-US" altLang="zh-CN" dirty="0"/>
              <a:t>with</a:t>
            </a:r>
            <a:r>
              <a:rPr lang="zh-CN" altLang="en-US" dirty="0"/>
              <a:t> </a:t>
            </a:r>
            <a:r>
              <a:rPr lang="en-US" altLang="zh-CN" dirty="0"/>
              <a:t>minimal</a:t>
            </a:r>
            <a:r>
              <a:rPr lang="zh-CN" altLang="en-US" dirty="0"/>
              <a:t> </a:t>
            </a:r>
            <a:r>
              <a:rPr lang="en-US" altLang="zh-CN" dirty="0"/>
              <a:t>domain</a:t>
            </a:r>
            <a:r>
              <a:rPr lang="zh-CN" altLang="en-US" dirty="0"/>
              <a:t> </a:t>
            </a:r>
            <a:r>
              <a:rPr lang="en-US" altLang="zh-CN" dirty="0"/>
              <a:t>knowledge</a:t>
            </a:r>
          </a:p>
          <a:p>
            <a:r>
              <a:rPr lang="en-US" altLang="zh-CN" dirty="0"/>
              <a:t>Some</a:t>
            </a:r>
            <a:r>
              <a:rPr lang="zh-CN" altLang="en-US" dirty="0"/>
              <a:t> </a:t>
            </a:r>
            <a:r>
              <a:rPr lang="en-US" altLang="zh-CN" dirty="0"/>
              <a:t>level</a:t>
            </a:r>
            <a:r>
              <a:rPr lang="zh-CN" altLang="en-US" dirty="0"/>
              <a:t> </a:t>
            </a:r>
            <a:r>
              <a:rPr lang="en-US" altLang="zh-CN" dirty="0"/>
              <a:t>of</a:t>
            </a:r>
            <a:r>
              <a:rPr lang="zh-CN" altLang="en-US" dirty="0"/>
              <a:t> </a:t>
            </a:r>
            <a:r>
              <a:rPr lang="en-US" altLang="zh-CN" dirty="0"/>
              <a:t>complexity</a:t>
            </a:r>
            <a:r>
              <a:rPr lang="zh-CN" altLang="en-US" dirty="0"/>
              <a:t> </a:t>
            </a:r>
            <a:r>
              <a:rPr lang="en-US" altLang="zh-CN" dirty="0"/>
              <a:t>will</a:t>
            </a:r>
            <a:r>
              <a:rPr lang="zh-CN" altLang="en-US" dirty="0"/>
              <a:t> </a:t>
            </a:r>
            <a:r>
              <a:rPr lang="en-US" altLang="zh-CN" dirty="0"/>
              <a:t>be</a:t>
            </a:r>
            <a:r>
              <a:rPr lang="zh-CN" altLang="en-US" dirty="0"/>
              <a:t> </a:t>
            </a:r>
            <a:r>
              <a:rPr lang="en-US" altLang="zh-CN" dirty="0"/>
              <a:t>incorporated</a:t>
            </a:r>
            <a:r>
              <a:rPr lang="zh-CN" altLang="en-US" dirty="0"/>
              <a:t> </a:t>
            </a:r>
            <a:r>
              <a:rPr lang="en-US" altLang="zh-CN" dirty="0"/>
              <a:t>into</a:t>
            </a:r>
            <a:r>
              <a:rPr lang="zh-CN" altLang="en-US" dirty="0"/>
              <a:t> </a:t>
            </a:r>
            <a:r>
              <a:rPr lang="en-US" altLang="zh-CN" dirty="0"/>
              <a:t>the</a:t>
            </a:r>
            <a:r>
              <a:rPr lang="zh-CN" altLang="en-US" dirty="0"/>
              <a:t> </a:t>
            </a:r>
            <a:r>
              <a:rPr lang="en-US" altLang="zh-CN" dirty="0"/>
              <a:t>software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39C8A2-0963-9331-E242-22F86A3718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B30462-0FD5-604F-8C98-DCC91BE84583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614274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727561-83A4-2119-D7B4-E7CFB86233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Gomoku </a:t>
            </a:r>
            <a:r>
              <a:rPr lang="en-US" altLang="zh-CN" dirty="0"/>
              <a:t>G</a:t>
            </a:r>
            <a:r>
              <a:rPr lang="en-US" dirty="0"/>
              <a:t>ame</a:t>
            </a:r>
            <a:r>
              <a:rPr lang="zh-CN" altLang="en-US" dirty="0"/>
              <a:t> </a:t>
            </a:r>
            <a:r>
              <a:rPr lang="en-US" altLang="zh-CN" dirty="0"/>
              <a:t>Demo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3617F4-5CFD-866D-AC78-DCF88BC77A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Two players alternate turns.</a:t>
            </a:r>
          </a:p>
          <a:p>
            <a:r>
              <a:rPr lang="en-US" dirty="0"/>
              <a:t>Win: unbroken line of 5 of your stones, horizontally, vertically, or diagonally.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291428C-2BB8-B902-0305-1394DF76280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52323" y="3301844"/>
            <a:ext cx="2887353" cy="2948397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7710B0EC-36A3-BB2B-40E7-AFCAF75A75FB}"/>
              </a:ext>
            </a:extLst>
          </p:cNvPr>
          <p:cNvSpPr txBox="1"/>
          <p:nvPr/>
        </p:nvSpPr>
        <p:spPr>
          <a:xfrm>
            <a:off x="4835878" y="6492875"/>
            <a:ext cx="2520242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/>
              <a:t>Image source: https://</a:t>
            </a:r>
            <a:r>
              <a:rPr lang="en-US" sz="800" dirty="0" err="1"/>
              <a:t>www.wikihow.com</a:t>
            </a:r>
            <a:r>
              <a:rPr lang="en-US" sz="800" dirty="0"/>
              <a:t>/Play-</a:t>
            </a:r>
            <a:r>
              <a:rPr lang="en-US" sz="800" dirty="0" err="1"/>
              <a:t>Gomoku</a:t>
            </a:r>
            <a:endParaRPr lang="en-US" sz="800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AA73B74-0F50-4E6F-6816-EAB185A781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B30462-0FD5-604F-8C98-DCC91BE84583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409329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74013F-EA8F-5440-7DDB-2D3E2F74CB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Project Goal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DE82CF-2802-2662-6774-E0E0AF77332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Build a web application where users can play Gomoku locally or online with a friend by sharing a link</a:t>
            </a:r>
          </a:p>
          <a:p>
            <a:r>
              <a:rPr lang="en-US" dirty="0"/>
              <a:t>Project specification specifies a list of mandatory features, while you can implement additional features you find fun</a:t>
            </a:r>
          </a:p>
          <a:p>
            <a:r>
              <a:rPr lang="en-US" dirty="0"/>
              <a:t>Work in teams of 3 people (form your team by Sep. xxx)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82F27D3-7686-0834-390A-420E102B40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B30462-0FD5-604F-8C98-DCC91BE84583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149873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4F5CAB-CA8D-CDBB-6DF8-3128CFCECB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Or You Own Project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B7A3E9-C655-21C6-A713-DDA382EDAC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Send me a project proposal with specific product features, project milestones, teams members and demonstrate that it’s both manageable and related to class topics.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9F30F20-58CF-E894-E392-041FCA6022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B30462-0FD5-604F-8C98-DCC91BE84583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908611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C53B68-DFE3-BE98-3870-CA1A2D9CA9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Brief History of Software Engineering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5E1E56-03A5-8977-10DE-81DEC5AFE5E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1950s–60s: Early Days</a:t>
            </a:r>
            <a:endParaRPr lang="en-US" dirty="0"/>
          </a:p>
          <a:p>
            <a:pPr lvl="1"/>
            <a:r>
              <a:rPr lang="en-US" dirty="0"/>
              <a:t>Software was handcrafted by scientists &amp; engineers</a:t>
            </a:r>
          </a:p>
          <a:p>
            <a:pPr lvl="1"/>
            <a:r>
              <a:rPr lang="en-US" dirty="0"/>
              <a:t>No standard processes; code was often treated as an accessory to hardware</a:t>
            </a:r>
          </a:p>
          <a:p>
            <a:r>
              <a:rPr lang="en-US" b="1" dirty="0"/>
              <a:t>1968: The "Software Crisis"</a:t>
            </a:r>
            <a:endParaRPr lang="en-US" dirty="0"/>
          </a:p>
          <a:p>
            <a:pPr lvl="1"/>
            <a:r>
              <a:rPr lang="en-US" dirty="0"/>
              <a:t>Coined at the NATO Conference on Software Engineering</a:t>
            </a:r>
          </a:p>
          <a:p>
            <a:pPr lvl="1"/>
            <a:r>
              <a:rPr lang="en-US" dirty="0"/>
              <a:t>Large projects over budget, late, unmaintainable, or outright failures</a:t>
            </a:r>
          </a:p>
          <a:p>
            <a:pPr lvl="1"/>
            <a:r>
              <a:rPr lang="en-US" dirty="0"/>
              <a:t>Highlighted lack of engineering discipline in software</a:t>
            </a:r>
          </a:p>
          <a:p>
            <a:endParaRPr lang="en-US" dirty="0"/>
          </a:p>
          <a:p>
            <a:pPr marL="0" indent="0">
              <a:buNone/>
            </a:pPr>
            <a:endParaRPr lang="en-US" sz="18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8C67C56-0336-0DAC-C32B-9DC0243DE1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B30462-0FD5-604F-8C98-DCC91BE84583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508391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38990F-10F2-ECA5-A372-3FA3F3884F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3D8CDE-3225-1D98-A8A5-0815E39928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Brief History of Software Engineering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3B6D85-4155-DF51-BAF8-E2DBE4723D1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1970s–90s: Foundational Work</a:t>
            </a:r>
            <a:endParaRPr lang="en-US" dirty="0"/>
          </a:p>
          <a:p>
            <a:pPr lvl="1"/>
            <a:r>
              <a:rPr lang="en-US" dirty="0"/>
              <a:t>Structured programming (Dijkstra, Parnas)</a:t>
            </a:r>
          </a:p>
          <a:p>
            <a:pPr lvl="1"/>
            <a:r>
              <a:rPr lang="en-US" dirty="0"/>
              <a:t>Object-Oriented programming (Simula -&gt; Smalltalk -&gt; C++)</a:t>
            </a:r>
          </a:p>
          <a:p>
            <a:pPr lvl="1"/>
            <a:r>
              <a:rPr lang="en-US" dirty="0"/>
              <a:t>Waterfall model (Winston Royce)</a:t>
            </a:r>
          </a:p>
          <a:p>
            <a:pPr lvl="1"/>
            <a:r>
              <a:rPr lang="en-US" dirty="0"/>
              <a:t>SE education and textbooks emerge</a:t>
            </a:r>
          </a:p>
          <a:p>
            <a:r>
              <a:rPr lang="en-US" b="1" dirty="0"/>
              <a:t>2000s–Now: Agile &amp; Beyond</a:t>
            </a:r>
            <a:endParaRPr lang="en-US" dirty="0"/>
          </a:p>
          <a:p>
            <a:pPr lvl="1"/>
            <a:r>
              <a:rPr lang="en-US" dirty="0"/>
              <a:t>Agile Manifesto (2001) → shift toward adaptability and people</a:t>
            </a:r>
          </a:p>
          <a:p>
            <a:pPr lvl="1"/>
            <a:r>
              <a:rPr lang="en-US" dirty="0"/>
              <a:t>Rise of DevOps, CI/CD, microservices</a:t>
            </a:r>
          </a:p>
          <a:p>
            <a:pPr lvl="1"/>
            <a:r>
              <a:rPr lang="en-US" dirty="0"/>
              <a:t>Software as infrastructure (cloud, AI, ML systems)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96A75AD-BB33-AD84-5366-26A21EE7D6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B30462-0FD5-604F-8C98-DCC91BE84583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174035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C38D71-44FE-058A-F860-DCFB087021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 Silver Bullet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9E00B0-01BA-3114-B3CD-7DE5C95442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One of the most influential papers in the history of software engineering by Fred Brooks in 1986.</a:t>
            </a:r>
          </a:p>
          <a:p>
            <a:endParaRPr lang="en-US" dirty="0"/>
          </a:p>
          <a:p>
            <a:endParaRPr lang="en-US" dirty="0"/>
          </a:p>
          <a:p>
            <a:pPr marL="0" indent="0">
              <a:buNone/>
            </a:pPr>
            <a:r>
              <a:rPr lang="en-US" dirty="0"/>
              <a:t>Acknowledgement: slides are inspired by Prof. Kenneth Anderson.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3B26FA3-5ABF-0570-68EB-B418F6BC2C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B30462-0FD5-604F-8C98-DCC91BE84583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571370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69875F-9BB7-898F-C153-42CD7A1DE9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 Silver Bullet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0384A3-C10F-EDC9-5050-1CAC1879C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86884" cy="4351338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“There is no single development, in either technology or management technique, which by itself promises even one order-of-magnitude improvement within a decade in productivity, in reliability, in simplicity.”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---- Fred Brooks, 1986</a:t>
            </a:r>
          </a:p>
          <a:p>
            <a:pPr>
              <a:buFont typeface="Wingdings" pitchFamily="2" charset="2"/>
              <a:buChar char="n"/>
            </a:pPr>
            <a:endParaRPr lang="en-US" dirty="0"/>
          </a:p>
          <a:p>
            <a:pPr marL="0" indent="0">
              <a:buNone/>
            </a:pPr>
            <a:r>
              <a:rPr lang="en-US" dirty="0"/>
              <a:t>i.e. There is no magical cure for the “software crisis”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97FAC74-EE87-48F1-E4E5-1B9D123B62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B30462-0FD5-604F-8C98-DCC91BE84583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134323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1E2F4F-3E0C-6C26-CD1D-26690D7B38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Why? Essence and Accidents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364D6B-A862-B5D6-6509-E2320CECE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Brooks divides the problems facing software engineering into two categories</a:t>
            </a:r>
          </a:p>
          <a:p>
            <a:pPr lvl="1"/>
            <a:r>
              <a:rPr lang="en-US" b="1" dirty="0"/>
              <a:t>Essence</a:t>
            </a:r>
            <a:r>
              <a:rPr lang="en-US" dirty="0"/>
              <a:t>: difficulties inherent in the nature of software</a:t>
            </a:r>
          </a:p>
          <a:p>
            <a:pPr lvl="1"/>
            <a:r>
              <a:rPr lang="en-US" b="1" dirty="0"/>
              <a:t>Accidents</a:t>
            </a:r>
            <a:r>
              <a:rPr lang="en-US" dirty="0"/>
              <a:t>: difficulties related to the production of software</a:t>
            </a:r>
          </a:p>
          <a:p>
            <a:r>
              <a:rPr lang="en-US" dirty="0"/>
              <a:t>Brooks argues that most techniques attack the accidents of software engineering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5BFFC80-0C92-A779-0DDD-973AD92068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B30462-0FD5-604F-8C98-DCC91BE84583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92710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0D2778-54F1-7A29-5481-F6A1A67120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Four Essential Difficulties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62E67D-9522-3EBE-B45D-18639062B6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Why Software is Inherently Hard?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b="1" dirty="0"/>
              <a:t>Complexity</a:t>
            </a:r>
            <a:r>
              <a:rPr lang="en-US" dirty="0"/>
              <a:t>: Software systems are more complex than other human constructs; no two parts are alike.</a:t>
            </a:r>
          </a:p>
          <a:p>
            <a:r>
              <a:rPr lang="en-US" b="1" dirty="0"/>
              <a:t>Conformity</a:t>
            </a:r>
            <a:r>
              <a:rPr lang="en-US" dirty="0"/>
              <a:t>: Software must conform to a variety of human institutions and systems.</a:t>
            </a:r>
          </a:p>
          <a:p>
            <a:r>
              <a:rPr lang="en-US" b="1" dirty="0"/>
              <a:t>Changeability</a:t>
            </a:r>
            <a:r>
              <a:rPr lang="en-US" dirty="0"/>
              <a:t>: Software is constantly under pressure to change to meet new demands.</a:t>
            </a:r>
          </a:p>
          <a:p>
            <a:r>
              <a:rPr lang="en-US" b="1" dirty="0"/>
              <a:t>Invisibility</a:t>
            </a:r>
            <a:r>
              <a:rPr lang="en-US" dirty="0"/>
              <a:t>: Software is an abstract construct; it's hard to visualize.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8633FF-6B7D-76EB-B7F2-146E0F7523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B30462-0FD5-604F-8C98-DCC91BE84583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537161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261BE8-3893-B023-55F5-A424A12572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Past Solutions (The "Accidental" Gains)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01E67F-7F3D-9681-331A-C4991789295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Most of the big productivity gains in the past solved accidental problems.</a:t>
            </a:r>
          </a:p>
          <a:p>
            <a:pPr marL="0" indent="0">
              <a:buNone/>
            </a:pP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High-level languages:</a:t>
            </a:r>
            <a:r>
              <a:rPr lang="en-US" dirty="0"/>
              <a:t> Eliminated the complexity of writing machine-level code.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Time-sharing:</a:t>
            </a:r>
            <a:r>
              <a:rPr lang="en-US" dirty="0"/>
              <a:t> Reduced slow turnaround times.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Unified programming environments:</a:t>
            </a:r>
            <a:r>
              <a:rPr lang="en-US" dirty="0"/>
              <a:t> Improved the way programs work together.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41DAB98-3AAE-42E5-3150-DD60A12180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B30462-0FD5-604F-8C98-DCC91BE84583}" type="slidenum">
              <a:rPr lang="en-US" smtClean="0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976032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BF31AE-A851-A9F1-84C9-7C598CD7DA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New Hopes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2BC44A8-27EC-6F7D-AE00-B1D2AC1A4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Ada</a:t>
            </a:r>
          </a:p>
          <a:p>
            <a:pPr lvl="1"/>
            <a:r>
              <a:rPr lang="en-US" dirty="0"/>
              <a:t>Main contribution is its philosophy, instead of language features</a:t>
            </a:r>
          </a:p>
          <a:p>
            <a:r>
              <a:rPr lang="en-US" dirty="0"/>
              <a:t>Object-Oriented programming</a:t>
            </a:r>
          </a:p>
          <a:p>
            <a:pPr lvl="1"/>
            <a:endParaRPr lang="en-US" dirty="0"/>
          </a:p>
          <a:p>
            <a:r>
              <a:rPr lang="en-US" dirty="0"/>
              <a:t>AI</a:t>
            </a:r>
          </a:p>
          <a:p>
            <a:endParaRPr lang="en-US" dirty="0"/>
          </a:p>
          <a:p>
            <a:r>
              <a:rPr lang="en-US" dirty="0"/>
              <a:t>Automated programming</a:t>
            </a:r>
          </a:p>
          <a:p>
            <a:endParaRPr lang="en-US" dirty="0"/>
          </a:p>
          <a:p>
            <a:r>
              <a:rPr lang="en-US" dirty="0"/>
              <a:t>Program verification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9E9420-96E9-A534-F63F-5FBAD2B886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B30462-0FD5-604F-8C98-DCC91BE84583}" type="slidenum">
              <a:rPr lang="en-US" smtClean="0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627123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7D02C6-FC30-283D-C19E-5B6D236792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Brooks's</a:t>
            </a:r>
            <a:r>
              <a:rPr lang="en-US" dirty="0"/>
              <a:t> Core Recommendations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EFF6ED-1133-3903-235E-64214D77146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Buy vs. Build:</a:t>
            </a:r>
            <a:r>
              <a:rPr lang="en-US" dirty="0"/>
              <a:t> Exploit the mass market and avoid creating what you can buy.</a:t>
            </a:r>
          </a:p>
          <a:p>
            <a:r>
              <a:rPr lang="en-US" b="1" dirty="0"/>
              <a:t>Rapid Prototyping:</a:t>
            </a:r>
            <a:r>
              <a:rPr lang="en-US" dirty="0"/>
              <a:t> Use prototypes to refine requirements iteratively.</a:t>
            </a:r>
          </a:p>
          <a:p>
            <a:r>
              <a:rPr lang="en-US" b="1" dirty="0"/>
              <a:t>Incremental Development:</a:t>
            </a:r>
            <a:r>
              <a:rPr lang="en-US" dirty="0"/>
              <a:t> "Grow" software piece by piece, rather than trying to build it all at once.</a:t>
            </a:r>
          </a:p>
          <a:p>
            <a:r>
              <a:rPr lang="en-US" b="1" dirty="0"/>
              <a:t>Great Designers:</a:t>
            </a:r>
            <a:r>
              <a:rPr lang="en-US" dirty="0"/>
              <a:t> Acknowledge and nurture the exceptional people who produce great designs.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163FCC-57BF-6DCB-3F71-2DC6A9C256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B30462-0FD5-604F-8C98-DCC91BE84583}" type="slidenum">
              <a:rPr lang="en-US" smtClean="0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806506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6A405C-F76A-61F4-8E8C-58C843DDD7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Final Takeaway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590423-0721-6397-9F35-EBA20CEC970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There's no magic solution to the software crisis.</a:t>
            </a:r>
          </a:p>
          <a:p>
            <a:r>
              <a:rPr lang="en-US" dirty="0"/>
              <a:t>Instead of seeking a single fix, we must address the fundamental nature of software.</a:t>
            </a:r>
          </a:p>
          <a:p>
            <a:r>
              <a:rPr lang="en-US" dirty="0"/>
              <a:t>The road to better software is paved with small, disciplined steps and the cultivation of great talent.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FDA1BA6-F94F-7A9B-42CD-9AE64BF0E3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B30462-0FD5-604F-8C98-DCC91BE84583}" type="slidenum">
              <a:rPr lang="en-US" smtClean="0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2436037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51CCE4-A17A-54C7-791C-5EC433B096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Backup slides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136F43-A2D1-0ED3-CA49-35D8DE89FC4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A9A51AD-DAB4-490B-61FD-4BAD314648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B30462-0FD5-604F-8C98-DCC91BE84583}" type="slidenum">
              <a:rPr lang="en-US" smtClean="0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0986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1040</TotalTime>
  <Words>2259</Words>
  <Application>Microsoft Macintosh PowerPoint</Application>
  <PresentationFormat>Widescreen</PresentationFormat>
  <Paragraphs>287</Paragraphs>
  <Slides>38</Slides>
  <Notes>2</Notes>
  <HiddenSlides>1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38</vt:i4>
      </vt:variant>
    </vt:vector>
  </HeadingPairs>
  <TitlesOfParts>
    <vt:vector size="43" baseType="lpstr">
      <vt:lpstr>Arial</vt:lpstr>
      <vt:lpstr>Calibri</vt:lpstr>
      <vt:lpstr>Calibri Light</vt:lpstr>
      <vt:lpstr>Wingdings</vt:lpstr>
      <vt:lpstr>Office Theme</vt:lpstr>
      <vt:lpstr>Introduction to Software Engineering</vt:lpstr>
      <vt:lpstr>What is Software Engineering?</vt:lpstr>
      <vt:lpstr>Software vs. Program</vt:lpstr>
      <vt:lpstr>Why Software Engineering?</vt:lpstr>
      <vt:lpstr>Why Software Engineering?</vt:lpstr>
      <vt:lpstr>Why Software Engineering?</vt:lpstr>
      <vt:lpstr>Why Software Engineering?</vt:lpstr>
      <vt:lpstr>Why Software Engineering?</vt:lpstr>
      <vt:lpstr>Why Software Engineering?</vt:lpstr>
      <vt:lpstr>Ariane 5 Flight 501</vt:lpstr>
      <vt:lpstr>Ariane 5 Flight 501</vt:lpstr>
      <vt:lpstr>Famous software failure: Therac-25</vt:lpstr>
      <vt:lpstr>Northeast Blackout of 2003</vt:lpstr>
      <vt:lpstr>Northeast Blackout of 2003</vt:lpstr>
      <vt:lpstr>Northeast Blackout of 2003</vt:lpstr>
      <vt:lpstr>The Challenges</vt:lpstr>
      <vt:lpstr>Core Principles to Tame Complexity</vt:lpstr>
      <vt:lpstr>Software Engineering in the Real World</vt:lpstr>
      <vt:lpstr>Main Topics</vt:lpstr>
      <vt:lpstr>Main Topics</vt:lpstr>
      <vt:lpstr>Miscellaneous Topics</vt:lpstr>
      <vt:lpstr>Acknowledgements</vt:lpstr>
      <vt:lpstr>Course logistics</vt:lpstr>
      <vt:lpstr>Semester-Long Project – Gomoku Game</vt:lpstr>
      <vt:lpstr>Gomoku Game Demo</vt:lpstr>
      <vt:lpstr>Project Goal</vt:lpstr>
      <vt:lpstr>Or You Own Project</vt:lpstr>
      <vt:lpstr>A Brief History of Software Engineering</vt:lpstr>
      <vt:lpstr>A Brief History of Software Engineering</vt:lpstr>
      <vt:lpstr>No Silver Bullet</vt:lpstr>
      <vt:lpstr>No Silver Bullet</vt:lpstr>
      <vt:lpstr>Why? Essence and Accidents</vt:lpstr>
      <vt:lpstr>The Four Essential Difficulties</vt:lpstr>
      <vt:lpstr>Past Solutions (The "Accidental" Gains)</vt:lpstr>
      <vt:lpstr>New Hopes</vt:lpstr>
      <vt:lpstr>Brooks's Core Recommendations</vt:lpstr>
      <vt:lpstr>Final Takeaway</vt:lpstr>
      <vt:lpstr>Backup slides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Tong Zhou</dc:creator>
  <cp:lastModifiedBy>Tong Zhou</cp:lastModifiedBy>
  <cp:revision>107</cp:revision>
  <dcterms:created xsi:type="dcterms:W3CDTF">2025-08-05T05:41:53Z</dcterms:created>
  <dcterms:modified xsi:type="dcterms:W3CDTF">2025-08-10T02:20:41Z</dcterms:modified>
</cp:coreProperties>
</file>