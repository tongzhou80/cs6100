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77" r:id="rId4"/>
    <p:sldId id="258" r:id="rId5"/>
    <p:sldId id="260" r:id="rId6"/>
    <p:sldId id="259" r:id="rId7"/>
    <p:sldId id="262" r:id="rId8"/>
    <p:sldId id="263" r:id="rId9"/>
    <p:sldId id="278" r:id="rId10"/>
    <p:sldId id="264" r:id="rId11"/>
    <p:sldId id="266" r:id="rId12"/>
    <p:sldId id="267" r:id="rId13"/>
    <p:sldId id="279" r:id="rId14"/>
    <p:sldId id="287" r:id="rId15"/>
    <p:sldId id="286" r:id="rId16"/>
    <p:sldId id="280" r:id="rId17"/>
    <p:sldId id="281" r:id="rId18"/>
    <p:sldId id="282" r:id="rId19"/>
    <p:sldId id="288" r:id="rId20"/>
    <p:sldId id="290" r:id="rId21"/>
    <p:sldId id="276" r:id="rId22"/>
    <p:sldId id="285" r:id="rId23"/>
    <p:sldId id="269" r:id="rId24"/>
    <p:sldId id="270" r:id="rId25"/>
    <p:sldId id="283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300" r:id="rId35"/>
    <p:sldId id="301" r:id="rId36"/>
    <p:sldId id="303" r:id="rId37"/>
    <p:sldId id="289" r:id="rId38"/>
    <p:sldId id="284" r:id="rId39"/>
    <p:sldId id="271" r:id="rId40"/>
    <p:sldId id="272" r:id="rId41"/>
    <p:sldId id="273" r:id="rId42"/>
    <p:sldId id="274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31"/>
    <p:restoredTop sz="91892"/>
  </p:normalViewPr>
  <p:slideViewPr>
    <p:cSldViewPr snapToGrid="0">
      <p:cViewPr varScale="1">
        <p:scale>
          <a:sx n="130" d="100"/>
          <a:sy n="130" d="100"/>
        </p:scale>
        <p:origin x="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D854A-D757-5C4C-A465-3201C554EB8D}" type="datetimeFigureOut">
              <a:rPr lang="en-US" smtClean="0"/>
              <a:t>8/10/25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CDB674-9C07-4F43-9CB5-21BC01324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222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During the 1970s to 1990s, software engineering began to mature as a discipline.</a:t>
            </a:r>
          </a:p>
          <a:p>
            <a:r>
              <a:rPr lang="en-US" dirty="0"/>
              <a:t>First, </a:t>
            </a:r>
            <a:r>
              <a:rPr lang="en-US" b="1" dirty="0"/>
              <a:t>structured programming</a:t>
            </a:r>
            <a:r>
              <a:rPr lang="en-US" dirty="0"/>
              <a:t>, championed by </a:t>
            </a:r>
            <a:r>
              <a:rPr lang="en-US" dirty="0" err="1"/>
              <a:t>Edsger</a:t>
            </a:r>
            <a:r>
              <a:rPr lang="en-US" dirty="0"/>
              <a:t> Dijkstra and David Parnas, emphasized clarity, modularity, and control flow discipline. It moved us away from chaotic 'spaghetti code' and toward code that could be reasoned about and maintained.</a:t>
            </a:r>
          </a:p>
          <a:p>
            <a:r>
              <a:rPr lang="en-US" dirty="0"/>
              <a:t>Around the same time, </a:t>
            </a:r>
            <a:r>
              <a:rPr lang="en-US" b="1" dirty="0"/>
              <a:t>object-oriented programming</a:t>
            </a:r>
            <a:r>
              <a:rPr lang="en-US" dirty="0"/>
              <a:t> (OOP) started to gain traction. The idea came from earlier languages like Simula and Smalltalk, but it wasn’t until </a:t>
            </a:r>
            <a:r>
              <a:rPr lang="en-US" b="1" dirty="0"/>
              <a:t>C++</a:t>
            </a:r>
            <a:r>
              <a:rPr lang="en-US" dirty="0"/>
              <a:t> in the 1980s that OOP became mainstream in commercial software. Later, </a:t>
            </a:r>
            <a:r>
              <a:rPr lang="en-US" b="1" dirty="0"/>
              <a:t>Java</a:t>
            </a:r>
            <a:r>
              <a:rPr lang="en-US" dirty="0"/>
              <a:t> further cemented OOP in industry and education during the 1990s.</a:t>
            </a:r>
          </a:p>
          <a:p>
            <a:r>
              <a:rPr lang="en-US" dirty="0"/>
              <a:t>Another important development was the </a:t>
            </a:r>
            <a:r>
              <a:rPr lang="en-US" b="1" dirty="0"/>
              <a:t>Waterfall model</a:t>
            </a:r>
            <a:r>
              <a:rPr lang="en-US" dirty="0"/>
              <a:t>, proposed by </a:t>
            </a:r>
            <a:r>
              <a:rPr lang="en-US" b="1" dirty="0"/>
              <a:t>Winston Royce</a:t>
            </a:r>
            <a:r>
              <a:rPr lang="en-US" dirty="0"/>
              <a:t> in 1970. Though originally a cautionary example, it was widely adopted in industry as a sequential approach to software development — progressing from requirements to design, implementation, testing, and maintenance.</a:t>
            </a:r>
          </a:p>
          <a:p>
            <a:r>
              <a:rPr lang="en-US" dirty="0"/>
              <a:t>Finally, we began to see the formalization of </a:t>
            </a:r>
            <a:r>
              <a:rPr lang="en-US" b="1" dirty="0"/>
              <a:t>software engineering education</a:t>
            </a:r>
            <a:r>
              <a:rPr lang="en-US" dirty="0"/>
              <a:t>. University courses, degree programs, and textbooks started to appear, helping to professionalize the field and establish common best practices. During the 1970s to 1990s, software engineering began to mature as a discipline.</a:t>
            </a:r>
          </a:p>
          <a:p>
            <a:r>
              <a:rPr lang="en-US" dirty="0"/>
              <a:t>First, </a:t>
            </a:r>
            <a:r>
              <a:rPr lang="en-US" b="1" dirty="0"/>
              <a:t>structured programming</a:t>
            </a:r>
            <a:r>
              <a:rPr lang="en-US" dirty="0"/>
              <a:t>, championed by </a:t>
            </a:r>
            <a:r>
              <a:rPr lang="en-US" dirty="0" err="1"/>
              <a:t>Edsger</a:t>
            </a:r>
            <a:r>
              <a:rPr lang="en-US" dirty="0"/>
              <a:t> Dijkstra and David Parnas, emphasized clarity, modularity, and control flow discipline. It moved us away from chaotic 'spaghetti code' and toward code that could be reasoned about and maintained.</a:t>
            </a:r>
          </a:p>
          <a:p>
            <a:r>
              <a:rPr lang="en-US" dirty="0"/>
              <a:t>Around the same time, </a:t>
            </a:r>
            <a:r>
              <a:rPr lang="en-US" b="1" dirty="0"/>
              <a:t>object-oriented programming</a:t>
            </a:r>
            <a:r>
              <a:rPr lang="en-US" dirty="0"/>
              <a:t> (OOP) started to gain traction. The idea came from earlier languages like Simula and Smalltalk, but it wasn’t until </a:t>
            </a:r>
            <a:r>
              <a:rPr lang="en-US" b="1" dirty="0"/>
              <a:t>C++</a:t>
            </a:r>
            <a:r>
              <a:rPr lang="en-US" dirty="0"/>
              <a:t> in the 1980s that OOP became mainstream in commercial software. Later, </a:t>
            </a:r>
            <a:r>
              <a:rPr lang="en-US" b="1" dirty="0"/>
              <a:t>Java</a:t>
            </a:r>
            <a:r>
              <a:rPr lang="en-US" dirty="0"/>
              <a:t> further cemented OOP in industry and education during the 1990s.</a:t>
            </a:r>
          </a:p>
          <a:p>
            <a:r>
              <a:rPr lang="en-US" dirty="0"/>
              <a:t>Another important development was the </a:t>
            </a:r>
            <a:r>
              <a:rPr lang="en-US" b="1" dirty="0"/>
              <a:t>Waterfall model</a:t>
            </a:r>
            <a:r>
              <a:rPr lang="en-US" dirty="0"/>
              <a:t>, proposed by </a:t>
            </a:r>
            <a:r>
              <a:rPr lang="en-US" b="1" dirty="0"/>
              <a:t>Winston Royce</a:t>
            </a:r>
            <a:r>
              <a:rPr lang="en-US" dirty="0"/>
              <a:t> in 1970. Though originally a cautionary example, it was widely adopted in industry as a sequential approach to software development — progressing from requirements to design, implementation, testing, and maintenance.</a:t>
            </a:r>
          </a:p>
          <a:p>
            <a:r>
              <a:rPr lang="en-US" dirty="0"/>
              <a:t>Finally, we began to see the formalization of </a:t>
            </a:r>
            <a:r>
              <a:rPr lang="en-US" b="1" dirty="0"/>
              <a:t>software engineering education</a:t>
            </a:r>
            <a:r>
              <a:rPr lang="en-US" dirty="0"/>
              <a:t>. University courses, degree programs, and textbooks started to appear, helping to professionalize the field and establish common best practices.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Waterfall model is often credited to </a:t>
            </a:r>
            <a:r>
              <a:rPr lang="en-US" b="1" dirty="0"/>
              <a:t>Winston Royce</a:t>
            </a:r>
            <a:r>
              <a:rPr lang="en-US" dirty="0"/>
              <a:t>, based on his 1970 paper. It depicts software development as a linear sequence of stages — from requirements to maintenance.</a:t>
            </a:r>
          </a:p>
          <a:p>
            <a:r>
              <a:rPr lang="en-US" dirty="0"/>
              <a:t>However, it’s worth noting that </a:t>
            </a:r>
            <a:r>
              <a:rPr lang="en-US" b="1" dirty="0"/>
              <a:t>Royce never intended it as a strict process model</a:t>
            </a:r>
            <a:r>
              <a:rPr lang="en-US" dirty="0"/>
              <a:t>. In fact, his paper warned that a purely sequential approach was risky for large software systems. He actually </a:t>
            </a:r>
            <a:r>
              <a:rPr lang="en-US" b="1" dirty="0"/>
              <a:t>advocated for iterative development and prototyping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CDB674-9C07-4F43-9CB5-21BC013244C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67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close today's lecture, I want to introduce one of the most influential essays in software engineering history: </a:t>
            </a:r>
            <a:r>
              <a:rPr lang="en-US" i="1" dirty="0"/>
              <a:t>“No Silver Bullet”</a:t>
            </a:r>
            <a:r>
              <a:rPr lang="en-US" dirty="0"/>
              <a:t> by Fred Brooks.</a:t>
            </a:r>
          </a:p>
          <a:p>
            <a:r>
              <a:rPr lang="en-US" dirty="0"/>
              <a:t>Brooks argues that there is </a:t>
            </a:r>
            <a:r>
              <a:rPr lang="en-US" b="1" dirty="0"/>
              <a:t>no quick fix</a:t>
            </a:r>
            <a:r>
              <a:rPr lang="en-US" dirty="0"/>
              <a:t> — no “silver bullet” — that will dramatically improve software development productivity. He explains why software is inherently complex, and reflects on what advances might help us — and which won't.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CDB674-9C07-4F43-9CB5-21BC013244C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745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DEF28A0-75AA-732C-496C-CEAD29488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7705AB2-73E4-9718-527D-17267167A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3D48441-2C3F-BD25-9F7F-2A7634FB77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276487-8B75-2F43-9355-4B467BD57A6C}" type="datetime1">
              <a:rPr lang="en-US" smtClean="0"/>
              <a:t>8/10/25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7E3B859-B9D9-912A-B230-238102225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E1D365-5A25-E66D-ABED-A7D18A2C8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183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E776C-9515-2481-8B81-687776F09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E6A0C-0355-3D06-1759-778857070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20B47-E8B8-5702-1C01-68F8723AE3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D8F5D7A-DAAE-D246-A661-ED1AD3964955}" type="datetime1">
              <a:rPr lang="en-US" smtClean="0"/>
              <a:t>8/10/25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92D50-3380-02C7-AEFE-F0BC90F15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4D026-5B15-2277-DB80-485E63ED5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612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3F852-C41E-175D-56D6-33A03E8BB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38482-CFA2-62B5-B8EB-BBC3E4EAF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ECB99-20D2-B6C1-9EDC-635D680A35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1806B9-6C4B-3B45-9110-CA58C108BE01}" type="datetime1">
              <a:rPr lang="en-US" smtClean="0"/>
              <a:t>8/10/25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A2888-2503-1FDC-F664-DEE807B7B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854B3-F213-4765-F345-76E42D93C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249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51A05-54B8-7E29-77B4-2D4D3E059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40CF6-62D6-BE4F-5F1E-3EC5743694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E161BC-33E7-8CA5-1312-A2BFA63C3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7BE4C-1F80-EAE2-1AFD-BB06EECE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5C6FEA-FDE7-B240-BEAF-6A3F6212E36E}" type="datetime1">
              <a:rPr lang="en-US" smtClean="0"/>
              <a:t>8/10/25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31F1C-CDC4-F1D8-876C-5F98389C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8A4B9-F63B-7C06-90D6-8634A26CC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85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87F9B-3701-6710-2389-36AC20E4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2CB0B-873B-50E9-5AC8-22CA78756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A45A94-B45A-35EA-2614-2D4296A08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09E794-5D03-A43B-6AA9-5AD8C6500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68EAAB-599B-EC7B-5784-CDBCF5DA95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CD028-8BC9-0A02-9AFA-A424BDCAAF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5F5DD0-F679-3747-91F3-9DC9C3F86CB6}" type="datetime1">
              <a:rPr lang="en-US" smtClean="0"/>
              <a:t>8/10/25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13C9A0-BB3F-D1B8-F222-2442F52DF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ADC62-3F93-4461-BABD-0FD0A471E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59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C8875-1E47-8116-8FF7-7BC4A29AD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5B6199-0A35-BE42-C731-28B8FE485B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DA3FF8-7A34-ED49-AA5D-BC76DF58E74E}" type="datetime1">
              <a:rPr lang="en-US" smtClean="0"/>
              <a:t>8/10/25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8E580-A669-EB85-47DB-D3AEE4675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FF84C7-A90A-3906-5514-E0847AAE9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40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B1B613-2CCE-6122-DE23-62F328D965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2A1C80-5B2D-564F-B8C6-B0B5B92F5809}" type="datetime1">
              <a:rPr lang="en-US" smtClean="0"/>
              <a:t>8/10/25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38C4DD-7CA7-DD9C-5BD0-EA324B963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655BB-96E0-F847-F0B4-287D7459A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74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B769A-A7F1-A15B-CCF1-17A9B1DF1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D284E-E8DD-25FB-2A5E-6708FBF6E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AD4023-DA97-5B6E-422B-DDC647AE6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8B7CD-5E0E-8F78-E3F1-47A1D71D4F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F75D97-7D6D-EC47-8250-30DF936063AD}" type="datetime1">
              <a:rPr lang="en-US" smtClean="0"/>
              <a:t>8/10/25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D2508-7DF0-5968-F780-59D082522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E2F17-2087-A0CA-2885-3181C3A5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6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FD2D-D8D6-BDB5-1038-2D9B176FC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162F1D-3B6F-2054-01B3-AC4538AE0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102A9A-9291-057A-80A7-F2F753F97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4D46C-E6AA-FE6B-DE41-778ED989A9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E89D4A-5528-5F41-9AF6-6B3105C8A7C3}" type="datetime1">
              <a:rPr lang="en-US" smtClean="0"/>
              <a:t>8/10/25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E02E3-E3B3-328B-521E-F5F071739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08106-D1AB-C8C1-3FE0-F21DFDFFF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745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064AE-8755-7F7B-C68D-561A352C1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929152-293C-5336-1744-E573C5263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28957-3D61-7182-44B1-C3791CC426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0B10427-957C-524C-8454-F629CBA9C9BE}" type="datetime1">
              <a:rPr lang="en-US" smtClean="0"/>
              <a:t>8/10/25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D2979-2EAB-0B3F-DB47-A979C8D11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E9273-E3ED-F625-CE3A-B35AAD1A8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02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40C05D-BFD7-54A9-F048-4266962871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2635B8-BEF6-D4D6-B7E3-9F82C3086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91B31-6AE8-5C57-0F05-9DF22FEDD3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97C5AB-4FB5-3149-A6CF-D0F885A81EBA}" type="datetime1">
              <a:rPr lang="en-US" smtClean="0"/>
              <a:t>8/10/25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A3110-252A-0FCD-089D-505AA96DD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09920-10B2-1B50-A547-C1E7569F7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95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FF15A6-0B1F-720E-CEE1-BF5A27B0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D39F7-266E-4548-B78D-57FF73902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66D50-6D55-2838-D530-BF1F4F812C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44417-86B7-E841-9AA9-C4BE48872EF5}" type="datetime1">
              <a:rPr lang="en-US" smtClean="0"/>
              <a:t>8/10/25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BFEB4-F926-BA5A-5FB0-25E386DDBD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1A711-8872-184C-30EC-436A45C34E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30462-0FD5-604F-8C98-DCC91BE8458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C48AEA-54E9-5154-4D70-373F1088C00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982200" y="145469"/>
            <a:ext cx="2066636" cy="55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45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spiral.co.nz/2015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kenscourses.com/tc101fall2016/syndicated/classes-to-code-3/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cteezy.com/vector-art/11968092-airplane-flying-in-sky-jet-plane-fly-in-clouds-airplanes-travel-and-vacation-aircraft-flight-plane-airplane-trip-to-airport-or-airline-transportation-flat-airplane-vector-illustration" TargetMode="External"/><Relationship Id="rId7" Type="http://schemas.openxmlformats.org/officeDocument/2006/relationships/hyperlink" Target="https://www.wisegeek.com/what-is-the-role-of-banks-in-economic-development.htm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hyperlink" Target="https://pixabay.com/zh/images/search/kokilaben%20hospital%20indore/" TargetMode="Externa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hyperlink" Target="https://www.netconfig.co.za/intermediate-microsoft-word-training/" TargetMode="External"/><Relationship Id="rId3" Type="http://schemas.openxmlformats.org/officeDocument/2006/relationships/hyperlink" Target="https://logos-world.net/tiktok-logo/" TargetMode="External"/><Relationship Id="rId7" Type="http://schemas.openxmlformats.org/officeDocument/2006/relationships/hyperlink" Target="https://pixabay.com/zh/images/search/kokilaben%20hospital%20indore/" TargetMode="External"/><Relationship Id="rId12" Type="http://schemas.openxmlformats.org/officeDocument/2006/relationships/image" Target="../media/image9.png"/><Relationship Id="rId2" Type="http://schemas.openxmlformats.org/officeDocument/2006/relationships/image" Target="../media/image7.jpg"/><Relationship Id="rId16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11" Type="http://schemas.openxmlformats.org/officeDocument/2006/relationships/hyperlink" Target="https://studybeglerbegs.z4.web.core.windows.net/which-can-store-a-computers-operating-system.html" TargetMode="External"/><Relationship Id="rId5" Type="http://schemas.openxmlformats.org/officeDocument/2006/relationships/hyperlink" Target="https://www.vecteezy.com/vector-art/11968092-airplane-flying-in-sky-jet-plane-fly-in-clouds-airplanes-travel-and-vacation-aircraft-flight-plane-airplane-trip-to-airport-or-airline-transportation-flat-airplane-vector-illustration" TargetMode="External"/><Relationship Id="rId15" Type="http://schemas.openxmlformats.org/officeDocument/2006/relationships/hyperlink" Target="https://play.google.com/store/apps/details?id=com.whatsapp" TargetMode="External"/><Relationship Id="rId10" Type="http://schemas.openxmlformats.org/officeDocument/2006/relationships/image" Target="../media/image8.jpg"/><Relationship Id="rId4" Type="http://schemas.openxmlformats.org/officeDocument/2006/relationships/image" Target="../media/image4.jpg"/><Relationship Id="rId9" Type="http://schemas.openxmlformats.org/officeDocument/2006/relationships/hyperlink" Target="https://www.wisegeek.com/what-is-the-role-of-banks-in-economic-development.htm" TargetMode="External"/><Relationship Id="rId1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nux_kernel" TargetMode="External"/><Relationship Id="rId2" Type="http://schemas.openxmlformats.org/officeDocument/2006/relationships/hyperlink" Target="https://en.wikipedia.org/wiki/Googl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EF63-B7CB-2CD1-A1C3-1EB238A31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Introduction to Software Engineering</a:t>
            </a:r>
            <a:endParaRPr lang="en-US" sz="2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F77C89-3733-9C2A-A31F-60CAE4BBF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14982"/>
            <a:ext cx="9144000" cy="1655762"/>
          </a:xfrm>
        </p:spPr>
        <p:txBody>
          <a:bodyPr/>
          <a:lstStyle/>
          <a:p>
            <a:r>
              <a:rPr lang="en-US" dirty="0"/>
              <a:t>CS 6100 — Fall 2025</a:t>
            </a:r>
          </a:p>
          <a:p>
            <a:r>
              <a:rPr lang="en-US" dirty="0"/>
              <a:t>Tong Zhou</a:t>
            </a:r>
          </a:p>
          <a:p>
            <a:r>
              <a:rPr lang="en-US" dirty="0"/>
              <a:t>tzhou44@fordham.edu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28300D-2CF8-D7CA-2A10-6C95ED402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524000" y="3690860"/>
            <a:ext cx="1986351" cy="14748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F6D49C-E62F-841E-4BAC-588ADB90B7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786452" y="3509963"/>
            <a:ext cx="1881548" cy="165576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2A9BF-6BCF-B8C8-3361-DC2B40211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053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F3CD7-EA0C-AD19-D5A7-29F331EDF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35313-4FD7-39D7-7953-F970AB9D9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“The application of a systematic, disciplined, quantifiable approach to the development, operation, and maintenance of software; that is, the application of engineering to software.”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— defined by IEEE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More than coding — involves people, processes, and tools</a:t>
            </a:r>
            <a:r>
              <a:rPr lang="en-US" altLang="zh-CN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5D715-355F-2886-F985-8BDEAE59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84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EBD6C-44F7-0777-F1FB-7739794F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vs.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6420C-A963-FD47-5780-7562F2A5B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Program:</a:t>
            </a:r>
            <a:r>
              <a:rPr lang="en-US" dirty="0"/>
              <a:t> a single, stand-alone piece of code that solves a specific problem.</a:t>
            </a:r>
          </a:p>
          <a:p>
            <a:r>
              <a:rPr lang="en-US" b="1" dirty="0"/>
              <a:t>Software:</a:t>
            </a:r>
            <a:r>
              <a:rPr lang="en-US" dirty="0"/>
              <a:t> computer programs, procedures, and possibly associated documentation and data pertaining to the operation of a computer system.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altLang="zh-CN" dirty="0"/>
              <a:t>Programs</a:t>
            </a:r>
            <a:r>
              <a:rPr lang="zh-CN" altLang="en-US" dirty="0"/>
              <a:t> </a:t>
            </a:r>
            <a:r>
              <a:rPr lang="en-US" altLang="zh-CN" dirty="0"/>
              <a:t>(code)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part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software.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9C731-EE37-F7F1-07D0-3F71D8CDF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45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37246-E57C-B3DB-804A-521653FAA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2A2BC-549B-F33D-6B50-AA5EE30D3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is Everywhere</a:t>
            </a:r>
          </a:p>
          <a:p>
            <a:pPr lvl="1"/>
            <a:r>
              <a:rPr lang="en-US" b="1" dirty="0"/>
              <a:t>Example</a:t>
            </a:r>
            <a:r>
              <a:rPr lang="en-US" dirty="0"/>
              <a:t>: An MRI scanner, an airplane autopilot system, and your ride-share app — all run on complex software</a:t>
            </a:r>
          </a:p>
          <a:p>
            <a:pPr lvl="1"/>
            <a:r>
              <a:rPr lang="en-US" b="1" dirty="0"/>
              <a:t>Point</a:t>
            </a:r>
            <a:r>
              <a:rPr lang="en-US" dirty="0"/>
              <a:t>: These systems must be </a:t>
            </a:r>
            <a:r>
              <a:rPr lang="en-US" i="1" dirty="0"/>
              <a:t>safe</a:t>
            </a:r>
            <a:r>
              <a:rPr lang="en-US" dirty="0"/>
              <a:t>, </a:t>
            </a:r>
            <a:r>
              <a:rPr lang="en-US" i="1" dirty="0"/>
              <a:t>reliable</a:t>
            </a:r>
            <a:r>
              <a:rPr lang="en-US" dirty="0"/>
              <a:t>, and </a:t>
            </a:r>
            <a:r>
              <a:rPr lang="en-US" i="1" dirty="0"/>
              <a:t>maintainable</a:t>
            </a:r>
            <a:endParaRPr lang="en-US" dirty="0"/>
          </a:p>
          <a:p>
            <a:endParaRPr lang="en-US" i="1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DB7CED-2B7A-FDD0-EC67-833AF9C18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23598" y="4001294"/>
            <a:ext cx="3138270" cy="17750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1A7C65-CB4B-5992-FFA2-404D3E10AD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079514" y="4001294"/>
            <a:ext cx="2115879" cy="21158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2680DD-D55D-8156-492D-77B8AAB819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213039" y="4001294"/>
            <a:ext cx="3019268" cy="198869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A9209-5AEB-C965-71EC-AFB92B7D0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65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0852A-5BA1-A70E-8011-E813F2906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F37C7C3-0379-19D0-342F-52F379687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924642" y="5642996"/>
            <a:ext cx="1685958" cy="9483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E76335-E3D7-FD83-5AFA-B8EFB9A75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4DAE4-36AC-372D-1519-0ACED7268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is Everywhere</a:t>
            </a:r>
          </a:p>
          <a:p>
            <a:pPr lvl="1"/>
            <a:r>
              <a:rPr lang="en-US" b="1" dirty="0"/>
              <a:t>Example</a:t>
            </a:r>
            <a:r>
              <a:rPr lang="en-US" dirty="0"/>
              <a:t>: An MRI scanner, an airplane autopilot system, and your ride-share app — all run on complex software</a:t>
            </a:r>
          </a:p>
          <a:p>
            <a:pPr lvl="1"/>
            <a:r>
              <a:rPr lang="en-US" b="1" dirty="0"/>
              <a:t>Point</a:t>
            </a:r>
            <a:r>
              <a:rPr lang="en-US" dirty="0"/>
              <a:t>: These systems must be </a:t>
            </a:r>
            <a:r>
              <a:rPr lang="en-US" i="1" dirty="0"/>
              <a:t>safe</a:t>
            </a:r>
            <a:r>
              <a:rPr lang="en-US" dirty="0"/>
              <a:t>, </a:t>
            </a:r>
            <a:r>
              <a:rPr lang="en-US" i="1" dirty="0"/>
              <a:t>reliable</a:t>
            </a:r>
            <a:r>
              <a:rPr lang="en-US" dirty="0"/>
              <a:t>, and </a:t>
            </a:r>
            <a:r>
              <a:rPr lang="en-US" i="1" dirty="0"/>
              <a:t>maintainable</a:t>
            </a:r>
            <a:endParaRPr lang="en-US" dirty="0"/>
          </a:p>
          <a:p>
            <a:endParaRPr lang="en-US" i="1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EFADB3-FD2E-DA0D-07E7-B93C0A90DB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23598" y="4001294"/>
            <a:ext cx="3138270" cy="17750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888D39-84F4-BC1C-88CA-B1A8CCB396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5079514" y="4001294"/>
            <a:ext cx="2115879" cy="21158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16F2C6-A27E-0FD2-AB8C-131CBEA7F6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8213039" y="4001294"/>
            <a:ext cx="3019268" cy="19886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C2666D-74A3-BEC6-B41D-5D9650AA93D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1207994" y="5504707"/>
            <a:ext cx="1837029" cy="12249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3D62AE-2F75-9204-0693-98C4ADBC8FB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5362759" y="5634200"/>
            <a:ext cx="1675531" cy="9424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BD4918-FE84-38F8-117D-B4979584AB2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3871561" y="5516048"/>
            <a:ext cx="1114208" cy="1114208"/>
          </a:xfrm>
          <a:prstGeom prst="rect">
            <a:avLst/>
          </a:prstGeom>
        </p:spPr>
      </p:pic>
      <p:pic>
        <p:nvPicPr>
          <p:cNvPr id="1026" name="Picture 2" descr="Minsk, Belarus - 03-27-2023. OpenAI and ChatGPT logo. artifical chatbot  system. chat bot button for web, app and phone icon symbol. editorial  vector illustration 21972603 Vector Art at Vecteezy">
            <a:extLst>
              <a:ext uri="{FF2B5EF4-FFF2-40B4-BE49-F238E27FC236}">
                <a16:creationId xmlns:a16="http://schemas.microsoft.com/office/drawing/2014/main" id="{5216A32F-E7B6-E440-1690-4958ECF6D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89" y="5560067"/>
            <a:ext cx="1114208" cy="1114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12233-511D-3574-C8A9-354B1E90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262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4566C-ECBF-FE39-CEA5-7288EE9A8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46A92-E38B-66D8-9DFA-83E06E6CA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7F718-0128-035D-D2A1-4EDA3B714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Is Easy to Write, Hard to Manage</a:t>
            </a:r>
          </a:p>
          <a:p>
            <a:pPr lvl="1"/>
            <a:r>
              <a:rPr lang="en-US" b="1" dirty="0"/>
              <a:t>Example</a:t>
            </a:r>
            <a:r>
              <a:rPr lang="en-US" dirty="0"/>
              <a:t>: A prototype written in a hackathon might work once, but will break with real users, multiple developers, or scaling needs</a:t>
            </a:r>
          </a:p>
          <a:p>
            <a:pPr lvl="1"/>
            <a:r>
              <a:rPr lang="en-US" b="1" dirty="0"/>
              <a:t>Point</a:t>
            </a:r>
            <a:r>
              <a:rPr lang="en-US" dirty="0"/>
              <a:t>: SE helps manage complexity, especially in large teams and long-term projects</a:t>
            </a:r>
          </a:p>
          <a:p>
            <a:pPr lvl="1"/>
            <a:endParaRPr lang="en-US" dirty="0"/>
          </a:p>
          <a:p>
            <a:endParaRPr lang="en-US" i="1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F71EB-8A73-27D8-6062-55BE432A7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80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CB9B5-69DB-5E69-A8A2-F90C7630F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31331-2411-03A1-69C6-BCA8B370F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2D7C8-D045-BA1F-8CEE-DDC6EB7F3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56440"/>
          </a:xfrm>
        </p:spPr>
        <p:txBody>
          <a:bodyPr/>
          <a:lstStyle/>
          <a:p>
            <a:r>
              <a:rPr lang="en-US" dirty="0"/>
              <a:t>Code Is Easy to Write, Hard to Manage</a:t>
            </a:r>
          </a:p>
          <a:p>
            <a:pPr lvl="1"/>
            <a:r>
              <a:rPr lang="en-US" b="1" dirty="0"/>
              <a:t>Example</a:t>
            </a:r>
            <a:r>
              <a:rPr lang="en-US" dirty="0"/>
              <a:t>: A prototype written in a hackathon might work once, but will break with real users, multiple developers, or scaling needs</a:t>
            </a:r>
          </a:p>
          <a:p>
            <a:pPr lvl="1"/>
            <a:r>
              <a:rPr lang="en-US" b="1" dirty="0"/>
              <a:t>Point</a:t>
            </a:r>
            <a:r>
              <a:rPr lang="en-US" dirty="0"/>
              <a:t>: SE helps manage complexity, especially in large teams and long-term projects</a:t>
            </a:r>
          </a:p>
          <a:p>
            <a:pPr lvl="1"/>
            <a:endParaRPr lang="en-US" dirty="0"/>
          </a:p>
          <a:p>
            <a:endParaRPr lang="en-US" i="1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1028" name="Picture 4" descr="Python Quicksort, algoritmo di ordinamento Python">
            <a:extLst>
              <a:ext uri="{FF2B5EF4-FFF2-40B4-BE49-F238E27FC236}">
                <a16:creationId xmlns:a16="http://schemas.microsoft.com/office/drawing/2014/main" id="{D36129DD-2668-7C37-05DB-A36D35CD9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552" y="4217733"/>
            <a:ext cx="3786699" cy="192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D32E25-64D2-3FB2-287E-67EBC3A5FD78}"/>
              </a:ext>
            </a:extLst>
          </p:cNvPr>
          <p:cNvSpPr txBox="1"/>
          <p:nvPr/>
        </p:nvSpPr>
        <p:spPr>
          <a:xfrm>
            <a:off x="2045631" y="6534834"/>
            <a:ext cx="22525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https://</a:t>
            </a:r>
            <a:r>
              <a:rPr lang="en-US" sz="800" dirty="0" err="1"/>
              <a:t>www.codingcreativo.it</a:t>
            </a:r>
            <a:r>
              <a:rPr lang="en-US" sz="800" dirty="0"/>
              <a:t>/python-quicksort/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E8613-6A7E-DC78-1620-6FEC5F1730EA}"/>
              </a:ext>
            </a:extLst>
          </p:cNvPr>
          <p:cNvSpPr txBox="1"/>
          <p:nvPr/>
        </p:nvSpPr>
        <p:spPr>
          <a:xfrm>
            <a:off x="1956440" y="3886134"/>
            <a:ext cx="2341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Homework assignment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C4E86-0E11-B8F0-0B4F-F551D75A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88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4A9B4-E3B3-5855-CB27-02E8AF13F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F5F1F-633E-9CDE-749A-C1345C464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FF0F-B660-8B26-5963-EB5ACD162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56440"/>
          </a:xfrm>
        </p:spPr>
        <p:txBody>
          <a:bodyPr/>
          <a:lstStyle/>
          <a:p>
            <a:r>
              <a:rPr lang="en-US" dirty="0"/>
              <a:t>Code Is Easy to Write, Hard to Manage</a:t>
            </a:r>
          </a:p>
          <a:p>
            <a:pPr lvl="1"/>
            <a:r>
              <a:rPr lang="en-US" b="1" dirty="0"/>
              <a:t>Example</a:t>
            </a:r>
            <a:r>
              <a:rPr lang="en-US" dirty="0"/>
              <a:t>: A prototype written in a hackathon might work once, but will break with real users, multiple developers, or scaling needs</a:t>
            </a:r>
          </a:p>
          <a:p>
            <a:pPr lvl="1"/>
            <a:r>
              <a:rPr lang="en-US" b="1" dirty="0"/>
              <a:t>Point</a:t>
            </a:r>
            <a:r>
              <a:rPr lang="en-US" dirty="0"/>
              <a:t>: SE helps manage complexity, especially in large teams and long-term projects</a:t>
            </a:r>
          </a:p>
          <a:p>
            <a:pPr lvl="1"/>
            <a:endParaRPr lang="en-US" dirty="0"/>
          </a:p>
          <a:p>
            <a:endParaRPr lang="en-US" i="1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1026" name="Picture 2" descr="A map  of the Linux Kernel source code.">
            <a:extLst>
              <a:ext uri="{FF2B5EF4-FFF2-40B4-BE49-F238E27FC236}">
                <a16:creationId xmlns:a16="http://schemas.microsoft.com/office/drawing/2014/main" id="{8E9CAD67-DB96-3738-E0F4-7C1E6C979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6837" y="3836405"/>
            <a:ext cx="3786699" cy="2656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B86935-6CBB-9434-0001-356A127E2BAB}"/>
              </a:ext>
            </a:extLst>
          </p:cNvPr>
          <p:cNvSpPr txBox="1"/>
          <p:nvPr/>
        </p:nvSpPr>
        <p:spPr>
          <a:xfrm>
            <a:off x="6063956" y="6642556"/>
            <a:ext cx="47724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https://</a:t>
            </a:r>
            <a:r>
              <a:rPr lang="en-US" sz="800" dirty="0" err="1"/>
              <a:t>medium.freecodecamp.org</a:t>
            </a:r>
            <a:r>
              <a:rPr lang="en-US" sz="800" dirty="0"/>
              <a:t>/building-and-installing-the-latest-linux-kernel-from-source-6d8df5345980</a:t>
            </a:r>
          </a:p>
        </p:txBody>
      </p:sp>
      <p:pic>
        <p:nvPicPr>
          <p:cNvPr id="1028" name="Picture 4" descr="Python Quicksort, algoritmo di ordinamento Python">
            <a:extLst>
              <a:ext uri="{FF2B5EF4-FFF2-40B4-BE49-F238E27FC236}">
                <a16:creationId xmlns:a16="http://schemas.microsoft.com/office/drawing/2014/main" id="{92714EF3-AC68-64D8-8D91-9BEF8B7FC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552" y="4217733"/>
            <a:ext cx="3786699" cy="192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CD4512-50B6-1886-5D11-490DA93C8426}"/>
              </a:ext>
            </a:extLst>
          </p:cNvPr>
          <p:cNvSpPr txBox="1"/>
          <p:nvPr/>
        </p:nvSpPr>
        <p:spPr>
          <a:xfrm>
            <a:off x="2045631" y="6534834"/>
            <a:ext cx="22525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https://</a:t>
            </a:r>
            <a:r>
              <a:rPr lang="en-US" sz="800" dirty="0" err="1"/>
              <a:t>www.codingcreativo.it</a:t>
            </a:r>
            <a:r>
              <a:rPr lang="en-US" sz="800" dirty="0"/>
              <a:t>/python-quicksort/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DC7A71A4-A9D1-C948-E5E4-2078F09E1C52}"/>
              </a:ext>
            </a:extLst>
          </p:cNvPr>
          <p:cNvSpPr/>
          <p:nvPr/>
        </p:nvSpPr>
        <p:spPr>
          <a:xfrm>
            <a:off x="5270090" y="4906297"/>
            <a:ext cx="1042220" cy="3834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B6EF55-6D41-C6E2-EEE2-7C5E400367D9}"/>
              </a:ext>
            </a:extLst>
          </p:cNvPr>
          <p:cNvSpPr txBox="1"/>
          <p:nvPr/>
        </p:nvSpPr>
        <p:spPr>
          <a:xfrm>
            <a:off x="1956440" y="3886134"/>
            <a:ext cx="2341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Homework assignment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65D3F7-6E79-5AFA-09BE-36E07A51A1D8}"/>
              </a:ext>
            </a:extLst>
          </p:cNvPr>
          <p:cNvSpPr txBox="1"/>
          <p:nvPr/>
        </p:nvSpPr>
        <p:spPr>
          <a:xfrm>
            <a:off x="6723985" y="3516802"/>
            <a:ext cx="3230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Real large-scale software project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B92DE5-EF75-07A5-E85D-DE0815F54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642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F5157-AE3C-15D6-DDB0-06CE92687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E7822-1B24-87FE-9DC1-4184AB9A3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Modern software = millions of lines of code</a:t>
            </a:r>
          </a:p>
          <a:p>
            <a:pPr lvl="1"/>
            <a:r>
              <a:rPr lang="en-US" dirty="0">
                <a:hlinkClick r:id="rId2" tooltip="Goog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</a:t>
            </a:r>
            <a:r>
              <a:rPr lang="en-US" sz="2400" dirty="0"/>
              <a:t>: 9 million source code files, 2 billion lines of source code</a:t>
            </a:r>
            <a:r>
              <a:rPr lang="zh-CN" altLang="en-US" sz="2400" dirty="0"/>
              <a:t> </a:t>
            </a:r>
            <a:r>
              <a:rPr lang="en-US" altLang="zh-CN" sz="2400" dirty="0"/>
              <a:t>(as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2015)</a:t>
            </a:r>
          </a:p>
          <a:p>
            <a:pPr lvl="1"/>
            <a:r>
              <a:rPr lang="en-US" altLang="zh-CN" u="sng" dirty="0"/>
              <a:t>Facebook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9.9</a:t>
            </a:r>
            <a:r>
              <a:rPr lang="zh-CN" altLang="en-US" dirty="0"/>
              <a:t> </a:t>
            </a:r>
            <a:r>
              <a:rPr lang="en-US" altLang="zh-CN" dirty="0"/>
              <a:t>million</a:t>
            </a:r>
            <a:r>
              <a:rPr lang="zh-CN" altLang="en-US" dirty="0"/>
              <a:t> </a:t>
            </a:r>
            <a:r>
              <a:rPr lang="en-US" altLang="zh-CN" dirty="0"/>
              <a:t>lines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open</a:t>
            </a:r>
            <a:r>
              <a:rPr lang="zh-CN" altLang="en-US" dirty="0"/>
              <a:t> </a:t>
            </a:r>
            <a:r>
              <a:rPr lang="en-US" altLang="zh-CN" dirty="0"/>
              <a:t>source</a:t>
            </a:r>
            <a:r>
              <a:rPr lang="zh-CN" altLang="en-US" dirty="0"/>
              <a:t> </a:t>
            </a:r>
            <a:r>
              <a:rPr lang="en-US" altLang="zh-CN" dirty="0"/>
              <a:t>code</a:t>
            </a:r>
            <a:r>
              <a:rPr lang="zh-CN" altLang="en-US" dirty="0"/>
              <a:t> </a:t>
            </a:r>
            <a:r>
              <a:rPr lang="en-US" altLang="zh-CN" dirty="0"/>
              <a:t>(as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2014)</a:t>
            </a:r>
            <a:endParaRPr lang="en-US" sz="2400" dirty="0"/>
          </a:p>
          <a:p>
            <a:pPr lvl="1"/>
            <a:r>
              <a:rPr lang="en-US" dirty="0">
                <a:hlinkClick r:id="rId3" tooltip="Linux kern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Linux kernel</a:t>
            </a:r>
            <a:r>
              <a:rPr lang="en-US" sz="2400" dirty="0"/>
              <a:t>: over 15 million lines of code (as of 2013)</a:t>
            </a:r>
            <a:endParaRPr lang="en-US" dirty="0"/>
          </a:p>
          <a:p>
            <a:r>
              <a:rPr lang="en-US" dirty="0"/>
              <a:t>Used by millions, across multiple platforms</a:t>
            </a:r>
          </a:p>
          <a:p>
            <a:pPr lvl="1"/>
            <a:r>
              <a:rPr lang="en-US" altLang="zh-CN" dirty="0"/>
              <a:t>Web,</a:t>
            </a:r>
            <a:r>
              <a:rPr lang="zh-CN" altLang="en-US" dirty="0"/>
              <a:t> </a:t>
            </a:r>
            <a:r>
              <a:rPr lang="en-US" altLang="zh-CN" dirty="0"/>
              <a:t>desktop,</a:t>
            </a:r>
            <a:r>
              <a:rPr lang="zh-CN" altLang="en-US" dirty="0"/>
              <a:t> </a:t>
            </a:r>
            <a:r>
              <a:rPr lang="en-US" altLang="zh-CN" dirty="0"/>
              <a:t>mobile</a:t>
            </a:r>
            <a:endParaRPr lang="en-US" dirty="0"/>
          </a:p>
          <a:p>
            <a:r>
              <a:rPr lang="en-US" b="1" dirty="0"/>
              <a:t>Errors are costly</a:t>
            </a:r>
            <a:r>
              <a:rPr lang="en-US" dirty="0"/>
              <a:t>: time, money, reputation, lives.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5E7C6-E0E2-2E5F-8985-E19D18DE6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06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054EF-A8E6-1115-9170-E55FE2C4C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Ariane 5 Flight 501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FB78D-BF9D-CA60-A0CB-70D0D460C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10633"/>
          </a:xfrm>
        </p:spPr>
        <p:txBody>
          <a:bodyPr/>
          <a:lstStyle/>
          <a:p>
            <a:r>
              <a:rPr lang="en-US" dirty="0"/>
              <a:t>Left/center: liftoff (June 4th, 1996)</a:t>
            </a:r>
          </a:p>
          <a:p>
            <a:r>
              <a:rPr lang="en-US" dirty="0"/>
              <a:t>Right: self-destruct after 39 seconds</a:t>
            </a:r>
          </a:p>
          <a:p>
            <a:r>
              <a:rPr lang="en-US" dirty="0"/>
              <a:t>~ 500 million US-$ damage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906C733-17D1-B7EB-94BE-B378F2F34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6121" y="3871195"/>
            <a:ext cx="5859757" cy="2372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8CFD1D-340D-4B43-3819-7453216068D3}"/>
              </a:ext>
            </a:extLst>
          </p:cNvPr>
          <p:cNvSpPr txBox="1"/>
          <p:nvPr/>
        </p:nvSpPr>
        <p:spPr>
          <a:xfrm>
            <a:off x="4371007" y="6492875"/>
            <a:ext cx="34499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Image source: https://www-</a:t>
            </a:r>
            <a:r>
              <a:rPr lang="en-US" sz="800" dirty="0" err="1"/>
              <a:t>users.cse.umn.edu</a:t>
            </a:r>
            <a:r>
              <a:rPr lang="en-US" sz="800" dirty="0"/>
              <a:t>/~</a:t>
            </a:r>
            <a:r>
              <a:rPr lang="en-US" sz="800" dirty="0" err="1"/>
              <a:t>arnold</a:t>
            </a:r>
            <a:r>
              <a:rPr lang="en-US" sz="800" dirty="0"/>
              <a:t>/disasters/</a:t>
            </a:r>
            <a:r>
              <a:rPr lang="en-US" sz="800" dirty="0" err="1"/>
              <a:t>ariane.html</a:t>
            </a:r>
            <a:endParaRPr lang="en-US" sz="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61E454-8B30-6859-C4E1-0DFBFF964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541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6F07E-9ECD-42B5-01B6-AA94DE12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3804F-E5C8-1224-A8AB-9CBC81105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Ariane 5 Flight 501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3B000-D020-84E3-2FD2-65692E2DF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86884" cy="4250710"/>
          </a:xfrm>
        </p:spPr>
        <p:txBody>
          <a:bodyPr>
            <a:normAutofit/>
          </a:bodyPr>
          <a:lstStyle/>
          <a:p>
            <a:r>
              <a:rPr lang="en-US" dirty="0"/>
              <a:t>Reasons: integer overflow</a:t>
            </a:r>
          </a:p>
          <a:p>
            <a:pPr lvl="1"/>
            <a:r>
              <a:rPr lang="en-US" dirty="0"/>
              <a:t>64-bit float velocity converted to 16-bit integer</a:t>
            </a:r>
          </a:p>
          <a:p>
            <a:pPr lvl="1"/>
            <a:r>
              <a:rPr lang="en-US" dirty="0"/>
              <a:t>Measurement &gt; 32768 → overflow → uncaught exception → system crash</a:t>
            </a:r>
          </a:p>
          <a:p>
            <a:r>
              <a:rPr lang="en-US" dirty="0"/>
              <a:t>Software reused from Ariane 4</a:t>
            </a:r>
          </a:p>
          <a:p>
            <a:pPr lvl="1"/>
            <a:r>
              <a:rPr lang="en-US" dirty="0"/>
              <a:t>Old rocket was slower, overflow impossible</a:t>
            </a:r>
          </a:p>
          <a:p>
            <a:pPr lvl="1"/>
            <a:r>
              <a:rPr lang="en-US" dirty="0"/>
              <a:t>No overflow handler → system crash with Ariane 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CF8F5-F445-E64A-0214-0516367D6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11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2341-0174-D0A6-E5BA-D42BCBEA9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Famous software failure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dirty="0"/>
              <a:t>Therac-25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5DF1A-B2C5-7B52-CB7C-8EF3E55D0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(1985–87): Radiation overdoses → patient deaths.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8FBBD-7B67-7802-D131-361764F45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846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6770A-5929-A153-7F2D-C698AF57E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Northeast Blackout of 2003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20A7C-5D0D-F641-0189-DF32B5F5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09874" cy="4351338"/>
          </a:xfrm>
        </p:spPr>
        <p:txBody>
          <a:bodyPr/>
          <a:lstStyle/>
          <a:p>
            <a:r>
              <a:rPr lang="en-US" dirty="0"/>
              <a:t>The world’s second most widespread blackout in history at its time</a:t>
            </a:r>
          </a:p>
          <a:p>
            <a:r>
              <a:rPr lang="en-US" dirty="0"/>
              <a:t>Affected an estimated 55 million people (14,300,000 affected in NYC and its surroundings)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80D697-39C4-274C-DA5B-0D4CE7FC8969}"/>
              </a:ext>
            </a:extLst>
          </p:cNvPr>
          <p:cNvSpPr txBox="1"/>
          <p:nvPr/>
        </p:nvSpPr>
        <p:spPr>
          <a:xfrm>
            <a:off x="4557758" y="6204178"/>
            <a:ext cx="30764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Source: https://</a:t>
            </a:r>
            <a:r>
              <a:rPr lang="en-US" sz="800" dirty="0" err="1"/>
              <a:t>en.wikipedia.org</a:t>
            </a:r>
            <a:r>
              <a:rPr lang="en-US" sz="800" dirty="0"/>
              <a:t>/wiki/Northeast_blackout_of_2003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0029C3C4-8AB1-3354-FF6F-D88F74603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5629" y="1734206"/>
            <a:ext cx="2855129" cy="3321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584316-AD64-BA10-EB57-5DC3BDEC5A35}"/>
              </a:ext>
            </a:extLst>
          </p:cNvPr>
          <p:cNvSpPr txBox="1"/>
          <p:nvPr/>
        </p:nvSpPr>
        <p:spPr>
          <a:xfrm>
            <a:off x="9605349" y="5288438"/>
            <a:ext cx="1335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Outage map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0552E-B376-F0A6-E490-51D6C6AA5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905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7DF56-5962-E5A5-2310-21FEE4A68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9E940-2763-1C70-B482-1017E1ADA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Northeast Blackout of 2003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3D253-FAE2-E48A-5A7F-57EBCBA29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09874" cy="4351338"/>
          </a:xfrm>
        </p:spPr>
        <p:txBody>
          <a:bodyPr/>
          <a:lstStyle/>
          <a:p>
            <a:r>
              <a:rPr lang="en-US" dirty="0"/>
              <a:t>A race condition existed in General Electric Energy's Unix-based XA/21 energy management system</a:t>
            </a:r>
          </a:p>
          <a:p>
            <a:pPr lvl="1"/>
            <a:r>
              <a:rPr lang="en-US" dirty="0"/>
              <a:t>Compiled from 4 million lines of C code</a:t>
            </a:r>
          </a:p>
          <a:p>
            <a:r>
              <a:rPr lang="en-US" dirty="0"/>
              <a:t>The triggered race condition stalled the control room’s alarm system for over an hour</a:t>
            </a:r>
          </a:p>
          <a:p>
            <a:pPr lvl="1"/>
            <a:r>
              <a:rPr lang="en-US" dirty="0"/>
              <a:t>Two processes both got write access to a shared data structure at the same time</a:t>
            </a:r>
          </a:p>
          <a:p>
            <a:pPr lvl="1"/>
            <a:r>
              <a:rPr lang="en-US" dirty="0"/>
              <a:t>Exhaustive testing did not find the bug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AF2FD2-7CDA-1832-EE40-8F8C3D68281C}"/>
              </a:ext>
            </a:extLst>
          </p:cNvPr>
          <p:cNvSpPr txBox="1"/>
          <p:nvPr/>
        </p:nvSpPr>
        <p:spPr>
          <a:xfrm>
            <a:off x="3733015" y="6311900"/>
            <a:ext cx="43284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Source: https://</a:t>
            </a:r>
            <a:r>
              <a:rPr lang="en-US" sz="800" dirty="0" err="1"/>
              <a:t>web.archive.org</a:t>
            </a:r>
            <a:r>
              <a:rPr lang="en-US" sz="800" dirty="0"/>
              <a:t>/web/20110610163731/http://</a:t>
            </a:r>
            <a:r>
              <a:rPr lang="en-US" sz="800" dirty="0" err="1"/>
              <a:t>www.securityfocus.com</a:t>
            </a:r>
            <a:r>
              <a:rPr lang="en-US" sz="800" dirty="0"/>
              <a:t>/news/8412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8770B641-0BD6-EFE0-E1DB-038B3468F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5629" y="1734206"/>
            <a:ext cx="2855129" cy="3321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6A417A-2E43-62C3-54BA-52B74821ADB6}"/>
              </a:ext>
            </a:extLst>
          </p:cNvPr>
          <p:cNvSpPr txBox="1"/>
          <p:nvPr/>
        </p:nvSpPr>
        <p:spPr>
          <a:xfrm>
            <a:off x="9605349" y="5288438"/>
            <a:ext cx="1335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Outage map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8C621-1A04-9BD0-6409-6486BEE66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44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E3783-9AF7-384F-4997-DFC6F85D6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Northeast Blackout of 2003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A4189-E618-CB5C-4507-BFC626FF2B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650639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milky way became visible in populated areas during the power outage</a:t>
            </a:r>
          </a:p>
        </p:txBody>
      </p:sp>
      <p:pic>
        <p:nvPicPr>
          <p:cNvPr id="3074" name="Picture 2" descr="Power outage demonstrates how irresponsible lighting has stolen our night sky.">
            <a:extLst>
              <a:ext uri="{FF2B5EF4-FFF2-40B4-BE49-F238E27FC236}">
                <a16:creationId xmlns:a16="http://schemas.microsoft.com/office/drawing/2014/main" id="{3990A6E0-C537-7449-9F53-BCA583B73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690688"/>
            <a:ext cx="5617314" cy="3836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DBC693-A5B3-B64D-66BF-FBCBFBB5CA13}"/>
              </a:ext>
            </a:extLst>
          </p:cNvPr>
          <p:cNvSpPr txBox="1"/>
          <p:nvPr/>
        </p:nvSpPr>
        <p:spPr>
          <a:xfrm>
            <a:off x="6703162" y="5578396"/>
            <a:ext cx="14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 night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A5A95E-B18A-5739-1ECA-8071E3306DB9}"/>
              </a:ext>
            </a:extLst>
          </p:cNvPr>
          <p:cNvSpPr txBox="1"/>
          <p:nvPr/>
        </p:nvSpPr>
        <p:spPr>
          <a:xfrm>
            <a:off x="9356764" y="5578396"/>
            <a:ext cx="1883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During the outage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0BF798-741B-E36F-676C-7E8D8462EB3F}"/>
              </a:ext>
            </a:extLst>
          </p:cNvPr>
          <p:cNvSpPr txBox="1"/>
          <p:nvPr/>
        </p:nvSpPr>
        <p:spPr>
          <a:xfrm>
            <a:off x="7722224" y="6385153"/>
            <a:ext cx="22124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Source: http://</a:t>
            </a:r>
            <a:r>
              <a:rPr lang="en-US" sz="800" dirty="0" err="1"/>
              <a:t>www.illinoislighting.org</a:t>
            </a:r>
            <a:r>
              <a:rPr lang="en-US" sz="800" dirty="0"/>
              <a:t>/</a:t>
            </a:r>
            <a:r>
              <a:rPr lang="en-US" sz="800" dirty="0" err="1"/>
              <a:t>loss.html</a:t>
            </a:r>
            <a:endParaRPr lang="en-US" sz="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F0F1C-DF72-F8D2-B7B4-78FB4873C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19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DC706-6DF4-4784-1288-A2C738F2B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7B5F0-E3D4-5EA8-25B2-827B32483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Growing complexity</a:t>
            </a:r>
          </a:p>
          <a:p>
            <a:r>
              <a:rPr lang="en-US" dirty="0"/>
              <a:t>Changing requirements</a:t>
            </a:r>
          </a:p>
          <a:p>
            <a:r>
              <a:rPr lang="en-US" dirty="0"/>
              <a:t>Large teams &amp; coordination</a:t>
            </a:r>
          </a:p>
          <a:p>
            <a:r>
              <a:rPr lang="en-US" dirty="0"/>
              <a:t>Testing &amp; quality assurance</a:t>
            </a:r>
          </a:p>
          <a:p>
            <a:r>
              <a:rPr lang="en-US" dirty="0"/>
              <a:t>Performance &amp; scalability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57463-DBAA-F968-501F-8CE1AF712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46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0F1D7-C446-79BB-32A4-7B1FFD18A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Principles to Tame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7E400-BF70-0C73-AD90-B4C1D48FB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Abstraction</a:t>
            </a:r>
            <a:r>
              <a:rPr lang="en-US" dirty="0"/>
              <a:t> — focus on the “what” not the “how”</a:t>
            </a:r>
          </a:p>
          <a:p>
            <a:r>
              <a:rPr lang="en-US" b="1" dirty="0"/>
              <a:t>Modularity</a:t>
            </a:r>
            <a:r>
              <a:rPr lang="en-US" dirty="0"/>
              <a:t> — divide and conquer</a:t>
            </a:r>
          </a:p>
          <a:p>
            <a:r>
              <a:rPr lang="en-US" b="1" dirty="0"/>
              <a:t>Encapsulation</a:t>
            </a:r>
            <a:r>
              <a:rPr lang="en-US" dirty="0"/>
              <a:t> — control access to internal details</a:t>
            </a:r>
          </a:p>
          <a:p>
            <a:r>
              <a:rPr lang="en-US" b="1" dirty="0"/>
              <a:t>Separation of Concerns</a:t>
            </a:r>
            <a:r>
              <a:rPr lang="en-US" dirty="0"/>
              <a:t> — each part handles one responsibility</a:t>
            </a:r>
          </a:p>
          <a:p>
            <a:r>
              <a:rPr lang="en-US" b="1" dirty="0"/>
              <a:t>Iterative Development</a:t>
            </a:r>
            <a:r>
              <a:rPr lang="en-US" dirty="0"/>
              <a:t> — build, test, refine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70D03-A234-4107-5117-503D53491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656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AE1B0-5701-1C38-20FE-7B30D773E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Engineering in the Real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1ECC9-6F7A-2A7C-0B88-CEE2F1723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~70%</a:t>
            </a:r>
            <a:r>
              <a:rPr lang="en-US" dirty="0"/>
              <a:t> of cost = maintenance </a:t>
            </a:r>
            <a:r>
              <a:rPr lang="en-US" baseline="30000" dirty="0"/>
              <a:t>1</a:t>
            </a:r>
          </a:p>
          <a:p>
            <a:r>
              <a:rPr lang="en-US" dirty="0"/>
              <a:t>Good SE → reliability, maintainability, scalability</a:t>
            </a:r>
          </a:p>
          <a:p>
            <a:r>
              <a:rPr lang="en-US" dirty="0"/>
              <a:t>Examples: Linux kernel, SpaceX flight software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989A9F-D104-9EA4-E89D-D2CCA51DAFD9}"/>
              </a:ext>
            </a:extLst>
          </p:cNvPr>
          <p:cNvSpPr txBox="1"/>
          <p:nvPr/>
        </p:nvSpPr>
        <p:spPr>
          <a:xfrm>
            <a:off x="4432169" y="5973346"/>
            <a:ext cx="3327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1: Software Evolution and Maintenance: A Practitioner's Approach, 2014</a:t>
            </a:r>
          </a:p>
          <a:p>
            <a:pPr algn="ctr"/>
            <a:endParaRPr lang="en-US" sz="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9168A-924A-C3C8-5B9F-7479FD7A7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858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23774-F0EF-70C3-4D61-2F802AA1E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6D4B7-B2FA-D59B-612D-D25D48A29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99B97-2CFE-2C5D-8B48-50C1BFE399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Quality Code</a:t>
            </a:r>
          </a:p>
          <a:p>
            <a:pPr lvl="1"/>
            <a:r>
              <a:rPr lang="en-US" altLang="zh-CN" dirty="0"/>
              <a:t>Usable</a:t>
            </a:r>
            <a:endParaRPr lang="en-US" dirty="0"/>
          </a:p>
          <a:p>
            <a:pPr lvl="1"/>
            <a:r>
              <a:rPr lang="en-US" dirty="0"/>
              <a:t>Less error-prone</a:t>
            </a:r>
          </a:p>
          <a:p>
            <a:pPr lvl="1"/>
            <a:r>
              <a:rPr lang="en-US" dirty="0"/>
              <a:t>Easier to maintain</a:t>
            </a:r>
          </a:p>
          <a:p>
            <a:pPr lvl="1"/>
            <a:r>
              <a:rPr lang="en-US" dirty="0"/>
              <a:t>…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FCB29-7BEC-DBA4-FA25-0936B3BCA3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Managing Software Projects</a:t>
            </a:r>
          </a:p>
          <a:p>
            <a:pPr lvl="1"/>
            <a:r>
              <a:rPr lang="en-US" dirty="0"/>
              <a:t>Meet the user requirements</a:t>
            </a:r>
          </a:p>
          <a:p>
            <a:pPr lvl="1"/>
            <a:r>
              <a:rPr lang="en-US" dirty="0"/>
              <a:t>Delivered in a timely manner</a:t>
            </a:r>
          </a:p>
          <a:p>
            <a:pPr lvl="1"/>
            <a:r>
              <a:rPr lang="en-US" dirty="0"/>
              <a:t>…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B8F4CE-1F36-BBFB-DD9F-9CA6728F8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47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38AE5-745B-900B-0855-9E7C8D24F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970A4-4BCD-7BCE-4CEE-BC3AD74ED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215CC-51FB-98A1-0516-D697EDCA7D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Quality Code</a:t>
            </a:r>
          </a:p>
          <a:p>
            <a:pPr lvl="1"/>
            <a:r>
              <a:rPr lang="en-US" dirty="0"/>
              <a:t>Object-oriented programming</a:t>
            </a:r>
          </a:p>
          <a:p>
            <a:pPr lvl="1"/>
            <a:r>
              <a:rPr lang="en-US" dirty="0"/>
              <a:t>UML &amp; design patterns</a:t>
            </a:r>
          </a:p>
          <a:p>
            <a:pPr lvl="1"/>
            <a:r>
              <a:rPr lang="en-US" dirty="0"/>
              <a:t>Testing</a:t>
            </a:r>
          </a:p>
          <a:p>
            <a:pPr lvl="1"/>
            <a:r>
              <a:rPr lang="en-US" dirty="0"/>
              <a:t>Code quality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66390-8075-FD6C-8D21-746B8B3FF9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Managing Software Projects</a:t>
            </a:r>
          </a:p>
          <a:p>
            <a:pPr lvl="1"/>
            <a:r>
              <a:rPr lang="en-US" dirty="0"/>
              <a:t>Software development process</a:t>
            </a:r>
          </a:p>
          <a:p>
            <a:pPr lvl="1"/>
            <a:r>
              <a:rPr lang="en-US" dirty="0"/>
              <a:t>Requirements engineering</a:t>
            </a:r>
          </a:p>
          <a:p>
            <a:pPr lvl="1"/>
            <a:r>
              <a:rPr lang="en-US" dirty="0"/>
              <a:t>Tools: Git, CI/CD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CF2FA5-04FD-8501-2964-73001ABD9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313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85D17-D04E-6D4A-9021-22B5B1568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61C79-879C-DA17-5F9B-331166354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Miscellaneous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74FC8-DAF4-AE7C-EC99-0F77DDFE0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Web development</a:t>
            </a:r>
            <a:r>
              <a:rPr lang="zh-CN" altLang="en-US" dirty="0"/>
              <a:t> </a:t>
            </a:r>
            <a:r>
              <a:rPr lang="en-US" altLang="zh-CN" dirty="0"/>
              <a:t>basics</a:t>
            </a:r>
            <a:endParaRPr lang="en-US" dirty="0"/>
          </a:p>
          <a:p>
            <a:pPr lvl="1"/>
            <a:r>
              <a:rPr lang="en-US" dirty="0"/>
              <a:t>Front end/back end interaction</a:t>
            </a:r>
          </a:p>
          <a:p>
            <a:r>
              <a:rPr lang="en-US" altLang="zh-CN" dirty="0"/>
              <a:t>Concurrency</a:t>
            </a:r>
          </a:p>
          <a:p>
            <a:pPr lvl="1"/>
            <a:r>
              <a:rPr lang="en-US" altLang="zh-CN" dirty="0"/>
              <a:t>Improve</a:t>
            </a:r>
            <a:r>
              <a:rPr lang="zh-CN" altLang="en-US" dirty="0"/>
              <a:t> </a:t>
            </a:r>
            <a:r>
              <a:rPr lang="en-US" altLang="zh-CN" dirty="0"/>
              <a:t>scalability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E30EA-2994-CE6C-BE72-2EC821D82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737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729CB-0960-6997-CBE8-37D8858DA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90941-739F-1D0B-49B3-899054F00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 materials are inspired by or adapted from previous offerings of CISC 6100 by Prof. Bill Lord, and open source teaching materials by Prof. Florian </a:t>
            </a:r>
            <a:r>
              <a:rPr lang="en-US" dirty="0" err="1"/>
              <a:t>Echtler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076FC-7E5B-714F-2A24-E45AA3B5F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594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B5652-0A0C-D84D-A68C-2537E6823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8CADF-BE77-DE6C-63FE-E997C8059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C16D0-F01F-DC8F-D5F1-DFF527015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Textbook (reference)</a:t>
            </a:r>
          </a:p>
          <a:p>
            <a:pPr lvl="1"/>
            <a:r>
              <a:rPr lang="en-US" dirty="0"/>
              <a:t>Software Engineering</a:t>
            </a:r>
            <a:r>
              <a:rPr lang="zh-CN" altLang="en-US" dirty="0"/>
              <a:t> </a:t>
            </a:r>
            <a:r>
              <a:rPr lang="en-US" altLang="zh-CN" dirty="0"/>
              <a:t>10th</a:t>
            </a:r>
            <a:r>
              <a:rPr lang="zh-CN" altLang="en-US" dirty="0"/>
              <a:t> </a:t>
            </a:r>
            <a:r>
              <a:rPr lang="en-US" altLang="zh-CN" dirty="0"/>
              <a:t>edition,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en-US" dirty="0"/>
              <a:t> Ian Sommerville</a:t>
            </a:r>
          </a:p>
          <a:p>
            <a:r>
              <a:rPr lang="en-US" dirty="0"/>
              <a:t>Prerequisites</a:t>
            </a:r>
          </a:p>
          <a:p>
            <a:pPr lvl="1"/>
            <a:r>
              <a:rPr lang="en-US" dirty="0"/>
              <a:t>Basic programming skills</a:t>
            </a:r>
          </a:p>
          <a:p>
            <a:r>
              <a:rPr lang="en-US" dirty="0"/>
              <a:t>Final grade</a:t>
            </a:r>
          </a:p>
          <a:p>
            <a:pPr lvl="1"/>
            <a:r>
              <a:rPr lang="en-US" dirty="0"/>
              <a:t>20% homework assignments</a:t>
            </a:r>
          </a:p>
          <a:p>
            <a:pPr lvl="1"/>
            <a:r>
              <a:rPr lang="en-US" dirty="0"/>
              <a:t>20% midterm exam</a:t>
            </a:r>
          </a:p>
          <a:p>
            <a:pPr lvl="1"/>
            <a:r>
              <a:rPr lang="en-US" dirty="0"/>
              <a:t>60% software engineering project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E4AC1-1243-7F80-515D-03EE397D8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703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CF2B7-80AC-CA7B-C097-F09CCBE35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Semester</a:t>
            </a:r>
            <a:r>
              <a:rPr lang="en-US" altLang="zh-CN" dirty="0"/>
              <a:t>-Long</a:t>
            </a:r>
            <a:r>
              <a:rPr lang="en-US" dirty="0"/>
              <a:t> </a:t>
            </a:r>
            <a:r>
              <a:rPr lang="en-US" altLang="zh-CN" dirty="0"/>
              <a:t>P</a:t>
            </a:r>
            <a:r>
              <a:rPr lang="en-US" dirty="0"/>
              <a:t>roject – Gomoku </a:t>
            </a:r>
            <a:r>
              <a:rPr lang="en-US" altLang="zh-CN" dirty="0"/>
              <a:t>G</a:t>
            </a:r>
            <a:r>
              <a:rPr lang="en-US" dirty="0"/>
              <a:t>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2992F-979A-8B66-CB05-BCA520B1A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simple</a:t>
            </a:r>
            <a:r>
              <a:rPr lang="zh-CN" altLang="en-US" dirty="0"/>
              <a:t> </a:t>
            </a:r>
            <a:r>
              <a:rPr lang="en-US" altLang="zh-CN" dirty="0"/>
              <a:t>game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minimal</a:t>
            </a:r>
            <a:r>
              <a:rPr lang="zh-CN" altLang="en-US" dirty="0"/>
              <a:t> </a:t>
            </a:r>
            <a:r>
              <a:rPr lang="en-US" altLang="zh-CN" dirty="0"/>
              <a:t>domain</a:t>
            </a:r>
            <a:r>
              <a:rPr lang="zh-CN" altLang="en-US" dirty="0"/>
              <a:t> </a:t>
            </a:r>
            <a:r>
              <a:rPr lang="en-US" altLang="zh-CN" dirty="0"/>
              <a:t>knowledge</a:t>
            </a:r>
          </a:p>
          <a:p>
            <a:r>
              <a:rPr lang="en-US" altLang="zh-CN" dirty="0"/>
              <a:t>Some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complexity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incorporated</a:t>
            </a:r>
            <a:r>
              <a:rPr lang="zh-CN" altLang="en-US" dirty="0"/>
              <a:t> </a:t>
            </a:r>
            <a:r>
              <a:rPr lang="en-US" altLang="zh-CN" dirty="0"/>
              <a:t>into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software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9C8A2-0963-9331-E242-22F86A371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427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27561-83A4-2119-D7B4-E7CFB8623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Gomoku </a:t>
            </a:r>
            <a:r>
              <a:rPr lang="en-US" altLang="zh-CN" dirty="0"/>
              <a:t>G</a:t>
            </a:r>
            <a:r>
              <a:rPr lang="en-US" dirty="0"/>
              <a:t>ame</a:t>
            </a:r>
            <a:r>
              <a:rPr lang="zh-CN" altLang="en-US" dirty="0"/>
              <a:t> </a:t>
            </a:r>
            <a:r>
              <a:rPr lang="en-US" altLang="zh-CN" dirty="0"/>
              <a:t>Demo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617F4-5CFD-866D-AC78-DCF88BC77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players alternate turns.</a:t>
            </a:r>
          </a:p>
          <a:p>
            <a:r>
              <a:rPr lang="en-US" dirty="0"/>
              <a:t>Win: unbroken line of 5 of your stones, horizontally, vertically, or diagonally.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91428C-2BB8-B902-0305-1394DF762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323" y="3301844"/>
            <a:ext cx="2887353" cy="29483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10B0EC-36A3-BB2B-40E7-AFCAF75A75FB}"/>
              </a:ext>
            </a:extLst>
          </p:cNvPr>
          <p:cNvSpPr txBox="1"/>
          <p:nvPr/>
        </p:nvSpPr>
        <p:spPr>
          <a:xfrm>
            <a:off x="4835878" y="6492875"/>
            <a:ext cx="25202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Image source: https://</a:t>
            </a:r>
            <a:r>
              <a:rPr lang="en-US" sz="800" dirty="0" err="1"/>
              <a:t>www.wikihow.com</a:t>
            </a:r>
            <a:r>
              <a:rPr lang="en-US" sz="800" dirty="0"/>
              <a:t>/Play-</a:t>
            </a:r>
            <a:r>
              <a:rPr lang="en-US" sz="800" dirty="0" err="1"/>
              <a:t>Gomoku</a:t>
            </a:r>
            <a:endParaRPr lang="en-US" sz="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73B74-0F50-4E6F-6816-EAB185A78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0932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4013F-EA8F-5440-7DDB-2D3E2F74C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E82CF-2802-2662-6774-E0E0AF773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a web application where users can play Gomoku locally or online with a friend by sharing a link</a:t>
            </a:r>
          </a:p>
          <a:p>
            <a:r>
              <a:rPr lang="en-US" dirty="0"/>
              <a:t>Project specification specifies a list of mandatory features, while you can implement additional features you find fun</a:t>
            </a:r>
          </a:p>
          <a:p>
            <a:r>
              <a:rPr lang="en-US" dirty="0"/>
              <a:t>Work in teams of 3 people (form your team by Sep. xxx)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F27D3-7686-0834-390A-420E102B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4987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F5CAB-CA8D-CDBB-6DF8-3128CFCE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 You Own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7A3E9-C655-21C6-A713-DDA382EDA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 me a project proposal with specific product features, project milestones, teams members and demonstrate that it’s both manageable and related to class topics.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0F20-58CF-E894-E392-041FCA602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0861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53B68-DFE3-BE98-3870-CA1A2D9CA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Brief History of Software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E1E56-03A5-8977-10DE-81DEC5AFE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1950s–60s: Early Days</a:t>
            </a:r>
            <a:endParaRPr lang="en-US" dirty="0"/>
          </a:p>
          <a:p>
            <a:pPr lvl="1"/>
            <a:r>
              <a:rPr lang="en-US" dirty="0"/>
              <a:t>Software was handcrafted by scientists &amp; engineers</a:t>
            </a:r>
          </a:p>
          <a:p>
            <a:pPr lvl="1"/>
            <a:r>
              <a:rPr lang="en-US" dirty="0"/>
              <a:t>No standard processes; code was often treated as an accessory to hardware</a:t>
            </a:r>
          </a:p>
          <a:p>
            <a:r>
              <a:rPr lang="en-US" b="1" dirty="0"/>
              <a:t>1968: The "Software Crisis"</a:t>
            </a:r>
            <a:endParaRPr lang="en-US" dirty="0"/>
          </a:p>
          <a:p>
            <a:pPr lvl="1"/>
            <a:r>
              <a:rPr lang="en-US" dirty="0"/>
              <a:t>Coined at the NATO Conference on Software Engineering</a:t>
            </a:r>
          </a:p>
          <a:p>
            <a:pPr lvl="1"/>
            <a:r>
              <a:rPr lang="en-US" dirty="0"/>
              <a:t>Large projects over budget, late, unmaintainable, or outright failures</a:t>
            </a:r>
          </a:p>
          <a:p>
            <a:pPr lvl="1"/>
            <a:r>
              <a:rPr lang="en-US" dirty="0"/>
              <a:t>Highlighted lack of engineering discipline in software</a:t>
            </a:r>
          </a:p>
          <a:p>
            <a:endParaRPr lang="en-US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67C56-0336-0DAC-C32B-9DC0243DE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0839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8990F-10F2-ECA5-A372-3FA3F3884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8CDE-3225-1D98-A8A5-0815E3992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Brief History of Software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B6D85-4155-DF51-BAF8-E2DBE4723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1970s–90s: Foundational Work</a:t>
            </a:r>
            <a:endParaRPr lang="en-US" dirty="0"/>
          </a:p>
          <a:p>
            <a:pPr lvl="1"/>
            <a:r>
              <a:rPr lang="en-US" dirty="0"/>
              <a:t>Structured programming (Dijkstra, Parnas)</a:t>
            </a:r>
          </a:p>
          <a:p>
            <a:pPr lvl="1"/>
            <a:r>
              <a:rPr lang="en-US" dirty="0"/>
              <a:t>Object-Oriented programming (Simula -&gt; Smalltalk -&gt; C++)</a:t>
            </a:r>
          </a:p>
          <a:p>
            <a:pPr lvl="1"/>
            <a:r>
              <a:rPr lang="en-US" dirty="0"/>
              <a:t>Waterfall model (Winston Royce)</a:t>
            </a:r>
          </a:p>
          <a:p>
            <a:pPr lvl="1"/>
            <a:r>
              <a:rPr lang="en-US" dirty="0"/>
              <a:t>SE education and textbooks emerge</a:t>
            </a:r>
          </a:p>
          <a:p>
            <a:r>
              <a:rPr lang="en-US" b="1" dirty="0"/>
              <a:t>2000s–Now: Agile &amp; Beyond</a:t>
            </a:r>
            <a:endParaRPr lang="en-US" dirty="0"/>
          </a:p>
          <a:p>
            <a:pPr lvl="1"/>
            <a:r>
              <a:rPr lang="en-US" dirty="0"/>
              <a:t>Agile Manifesto (2001) → shift toward adaptability and people</a:t>
            </a:r>
          </a:p>
          <a:p>
            <a:pPr lvl="1"/>
            <a:r>
              <a:rPr lang="en-US" dirty="0"/>
              <a:t>Rise of DevOps, CI/CD, microservices</a:t>
            </a:r>
          </a:p>
          <a:p>
            <a:pPr lvl="1"/>
            <a:r>
              <a:rPr lang="en-US" dirty="0"/>
              <a:t>Software as infrastructure (cloud, AI, ML systems)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A75AD-BB33-AD84-5366-26A21EE7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7403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38D71-44FE-058A-F860-DCFB08702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Silver Bullet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E00B0-01BA-3114-B3CD-7DE5C9544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the most influential papers in the history of software engineering by Fred Brooks in 1986.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Acknowledgement: slides are inspired by Prof. Kenneth Anderson.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26FA3-5ABF-0570-68EB-B418F6BC2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137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9875F-9BB7-898F-C153-42CD7A1DE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Silver Bullet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384A3-C10F-EDC9-5050-1CAC1879C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8688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“There is no single development, in either technology or management technique, which by itself promises even one order-of-magnitude improvement within a decade in productivity, in reliability, in simplicity.”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---- Fred Brooks, 1986</a:t>
            </a:r>
          </a:p>
          <a:p>
            <a:pPr>
              <a:buFont typeface="Wingdings" pitchFamily="2" charset="2"/>
              <a:buChar char="n"/>
            </a:pPr>
            <a:endParaRPr lang="en-US" dirty="0"/>
          </a:p>
          <a:p>
            <a:pPr marL="0" indent="0">
              <a:buNone/>
            </a:pPr>
            <a:r>
              <a:rPr lang="en-US" dirty="0"/>
              <a:t>i.e. There is no magical cure for the “software crisis”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FAC74-EE87-48F1-E4E5-1B9D123B6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3432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E2F4F-3E0C-6C26-CD1D-26690D7B3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 Essence and Accidents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64D6B-A862-B5D6-6509-E2320CECE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Brooks divides the problems facing software engineering into two categories</a:t>
            </a:r>
          </a:p>
          <a:p>
            <a:pPr lvl="1"/>
            <a:r>
              <a:rPr lang="en-US" b="1" dirty="0"/>
              <a:t>Essence</a:t>
            </a:r>
            <a:r>
              <a:rPr lang="en-US" dirty="0"/>
              <a:t>: difficulties inherent in the nature of software</a:t>
            </a:r>
          </a:p>
          <a:p>
            <a:pPr lvl="1"/>
            <a:r>
              <a:rPr lang="en-US" b="1" dirty="0"/>
              <a:t>Accidents</a:t>
            </a:r>
            <a:r>
              <a:rPr lang="en-US" dirty="0"/>
              <a:t>: difficulties related to the production of software</a:t>
            </a:r>
          </a:p>
          <a:p>
            <a:r>
              <a:rPr lang="en-US" dirty="0"/>
              <a:t>Brooks argues that most techniques attack the accidents of software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FFC80-0C92-A779-0DDD-973AD9206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71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D2778-54F1-7A29-5481-F6A1A6712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Four Essential Difficulties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2E67D-9522-3EBE-B45D-18639062B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 Software is Inherently Hard?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Complexity</a:t>
            </a:r>
            <a:r>
              <a:rPr lang="en-US" dirty="0"/>
              <a:t>: Software systems are more complex than other human constructs; no two parts are alike.</a:t>
            </a:r>
          </a:p>
          <a:p>
            <a:r>
              <a:rPr lang="en-US" b="1" dirty="0"/>
              <a:t>Conformity</a:t>
            </a:r>
            <a:r>
              <a:rPr lang="en-US" dirty="0"/>
              <a:t>: Software must conform to a variety of human institutions and systems.</a:t>
            </a:r>
          </a:p>
          <a:p>
            <a:r>
              <a:rPr lang="en-US" b="1" dirty="0"/>
              <a:t>Changeability</a:t>
            </a:r>
            <a:r>
              <a:rPr lang="en-US" dirty="0"/>
              <a:t>: Software is constantly under pressure to change to meet new demands.</a:t>
            </a:r>
          </a:p>
          <a:p>
            <a:r>
              <a:rPr lang="en-US" b="1" dirty="0"/>
              <a:t>Invisibility</a:t>
            </a:r>
            <a:r>
              <a:rPr lang="en-US" dirty="0"/>
              <a:t>: Software is an abstract construct; it's hard to visualize.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633FF-6B7D-76EB-B7F2-146E0F752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716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61BE8-3893-B023-55F5-A424A1257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Past Solutions (The "Accidental" Gains)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1E67F-7F3D-9681-331A-C49917892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Most of the big productivity gains in the past solved accidental problems.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High-level languages:</a:t>
            </a:r>
            <a:r>
              <a:rPr lang="en-US" dirty="0"/>
              <a:t> Eliminated the complexity of writing machine-level code.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Time-sharing:</a:t>
            </a:r>
            <a:r>
              <a:rPr lang="en-US" dirty="0"/>
              <a:t> Reduced slow turnaround times.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Unified programming environments:</a:t>
            </a:r>
            <a:r>
              <a:rPr lang="en-US" dirty="0"/>
              <a:t> Improved the way programs work together.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DAB98-3AAE-42E5-3150-DD60A1218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7603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F31AE-A851-A9F1-84C9-7C598CD7D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Hopes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C44A8-27EC-6F7D-AE00-B1D2AC1A4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Ada</a:t>
            </a:r>
          </a:p>
          <a:p>
            <a:pPr lvl="1"/>
            <a:r>
              <a:rPr lang="en-US" dirty="0"/>
              <a:t>Main contribution is its philosophy, instead of language features</a:t>
            </a:r>
          </a:p>
          <a:p>
            <a:r>
              <a:rPr lang="en-US" dirty="0"/>
              <a:t>Object-Oriented programming</a:t>
            </a:r>
          </a:p>
          <a:p>
            <a:pPr lvl="1"/>
            <a:endParaRPr lang="en-US" dirty="0"/>
          </a:p>
          <a:p>
            <a:r>
              <a:rPr lang="en-US" dirty="0"/>
              <a:t>AI</a:t>
            </a:r>
          </a:p>
          <a:p>
            <a:endParaRPr lang="en-US" dirty="0"/>
          </a:p>
          <a:p>
            <a:r>
              <a:rPr lang="en-US" dirty="0"/>
              <a:t>Automated programming</a:t>
            </a:r>
          </a:p>
          <a:p>
            <a:endParaRPr lang="en-US" dirty="0"/>
          </a:p>
          <a:p>
            <a:r>
              <a:rPr lang="en-US" dirty="0"/>
              <a:t>Program verification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E9420-96E9-A534-F63F-5FBAD2B88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2712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D02C6-FC30-283D-C19E-5B6D23679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Brooks's</a:t>
            </a:r>
            <a:r>
              <a:rPr lang="en-US" dirty="0"/>
              <a:t> Core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FF6ED-1133-3903-235E-64214D771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Buy vs. Build:</a:t>
            </a:r>
            <a:r>
              <a:rPr lang="en-US" dirty="0"/>
              <a:t> Exploit the mass market and avoid creating what you can buy.</a:t>
            </a:r>
          </a:p>
          <a:p>
            <a:r>
              <a:rPr lang="en-US" b="1" dirty="0"/>
              <a:t>Rapid Prototyping:</a:t>
            </a:r>
            <a:r>
              <a:rPr lang="en-US" dirty="0"/>
              <a:t> Use prototypes to refine requirements iteratively.</a:t>
            </a:r>
          </a:p>
          <a:p>
            <a:r>
              <a:rPr lang="en-US" b="1" dirty="0"/>
              <a:t>Incremental Development:</a:t>
            </a:r>
            <a:r>
              <a:rPr lang="en-US" dirty="0"/>
              <a:t> "Grow" software piece by piece, rather than trying to build it all at once.</a:t>
            </a:r>
          </a:p>
          <a:p>
            <a:r>
              <a:rPr lang="en-US" b="1" dirty="0"/>
              <a:t>Great Designers:</a:t>
            </a:r>
            <a:r>
              <a:rPr lang="en-US" dirty="0"/>
              <a:t> Acknowledge and nurture the exceptional people who produce great designs.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63FCC-57BF-6DCB-3F71-2DC6A9C25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0650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1CCE4-A17A-54C7-791C-5EC433B09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36F43-A2D1-0ED3-CA49-35D8DE89F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A51AD-DAB4-490B-61FD-4BAD3146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98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341A6-15AB-49BC-59E9-9FE750803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Thought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82434-84C2-3901-BDA3-4E7446DBA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The</a:t>
            </a:r>
            <a:r>
              <a:rPr lang="en-US" dirty="0"/>
              <a:t> </a:t>
            </a:r>
            <a:r>
              <a:rPr lang="en-US" i="1" dirty="0"/>
              <a:t>computing scientist‘s main challenge</a:t>
            </a:r>
            <a:r>
              <a:rPr lang="en-US" dirty="0"/>
              <a:t> is </a:t>
            </a:r>
            <a:r>
              <a:rPr lang="en-US" i="1" dirty="0"/>
              <a:t>not</a:t>
            </a:r>
            <a:r>
              <a:rPr lang="en-US" dirty="0"/>
              <a:t> to </a:t>
            </a:r>
            <a:r>
              <a:rPr lang="en-US" i="1" dirty="0"/>
              <a:t>get confused</a:t>
            </a:r>
            <a:r>
              <a:rPr lang="en-US" dirty="0"/>
              <a:t> by the </a:t>
            </a:r>
            <a:r>
              <a:rPr lang="en-US" i="1" dirty="0"/>
              <a:t>complexities</a:t>
            </a:r>
            <a:r>
              <a:rPr lang="en-US" dirty="0"/>
              <a:t> of </a:t>
            </a:r>
            <a:r>
              <a:rPr lang="en-US" i="1" dirty="0"/>
              <a:t>his own making</a:t>
            </a:r>
            <a:r>
              <a:rPr lang="zh-CN" altLang="en-US" i="1" dirty="0"/>
              <a:t>        </a:t>
            </a:r>
            <a:r>
              <a:rPr lang="en-US" altLang="zh-CN" i="1" dirty="0"/>
              <a:t>-----</a:t>
            </a:r>
            <a:r>
              <a:rPr lang="en-US" dirty="0"/>
              <a:t> </a:t>
            </a:r>
            <a:r>
              <a:rPr lang="en-US" dirty="0" err="1"/>
              <a:t>Edsger</a:t>
            </a:r>
            <a:r>
              <a:rPr lang="en-US" dirty="0"/>
              <a:t> Dijkstra</a:t>
            </a:r>
            <a:endParaRPr lang="en-US" altLang="zh-CN" i="1" dirty="0"/>
          </a:p>
          <a:p>
            <a:pPr marL="0" indent="0">
              <a:buNone/>
            </a:pPr>
            <a:endParaRPr lang="en-US" i="1" dirty="0"/>
          </a:p>
        </p:txBody>
      </p:sp>
      <p:pic>
        <p:nvPicPr>
          <p:cNvPr id="1026" name="Picture 2" descr="Edsger W. Dijkstra">
            <a:extLst>
              <a:ext uri="{FF2B5EF4-FFF2-40B4-BE49-F238E27FC236}">
                <a16:creationId xmlns:a16="http://schemas.microsoft.com/office/drawing/2014/main" id="{5A8E9FF2-4C6E-634C-1DB0-5496B72A4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0" y="3136900"/>
            <a:ext cx="3175000" cy="31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3E9975-F465-1798-8ED0-60D7CD94AD43}"/>
              </a:ext>
            </a:extLst>
          </p:cNvPr>
          <p:cNvSpPr txBox="1"/>
          <p:nvPr/>
        </p:nvSpPr>
        <p:spPr>
          <a:xfrm>
            <a:off x="4627489" y="6480019"/>
            <a:ext cx="29370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https://</a:t>
            </a:r>
            <a:r>
              <a:rPr lang="en-US" sz="800" dirty="0" err="1"/>
              <a:t>cacm.acm.org</a:t>
            </a:r>
            <a:r>
              <a:rPr lang="en-US" sz="800" dirty="0"/>
              <a:t>/news/an-interview-with-</a:t>
            </a:r>
            <a:r>
              <a:rPr lang="en-US" sz="800" dirty="0" err="1"/>
              <a:t>edsger</a:t>
            </a:r>
            <a:r>
              <a:rPr lang="en-US" sz="800" dirty="0"/>
              <a:t>-w-</a:t>
            </a:r>
            <a:r>
              <a:rPr lang="en-US" sz="800" dirty="0" err="1"/>
              <a:t>dijkstra</a:t>
            </a:r>
            <a:r>
              <a:rPr lang="en-US" sz="800" dirty="0"/>
              <a:t>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58F663-17E4-6B39-86B0-7D61EA69D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1661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2C704-08E8-7DE8-9EA6-4D8CA2E10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course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15FE5-78DD-ED18-7743-B67F38B9E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write </a:t>
            </a:r>
            <a:r>
              <a:rPr lang="en-US" u="sng" dirty="0"/>
              <a:t>quality</a:t>
            </a:r>
            <a:r>
              <a:rPr lang="en-US" dirty="0"/>
              <a:t> code?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B2A2A-B152-A024-B999-DFB1BFBBF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2179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F73ED-EFBA-F3DF-4D3E-88108C3D1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D59A0-294B-0A15-110B-4F03E294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course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70496-D261-9FCC-8B1F-5DF810745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write </a:t>
            </a:r>
            <a:r>
              <a:rPr lang="en-US" u="sng" dirty="0"/>
              <a:t>quality</a:t>
            </a:r>
            <a:r>
              <a:rPr lang="en-US" dirty="0"/>
              <a:t> code?</a:t>
            </a:r>
          </a:p>
          <a:p>
            <a:pPr lvl="1"/>
            <a:r>
              <a:rPr lang="en-US" altLang="zh-CN" dirty="0"/>
              <a:t>Usable</a:t>
            </a:r>
            <a:endParaRPr lang="en-US" dirty="0"/>
          </a:p>
          <a:p>
            <a:pPr lvl="1"/>
            <a:r>
              <a:rPr lang="en-US" dirty="0"/>
              <a:t>Less error-prone</a:t>
            </a:r>
          </a:p>
          <a:p>
            <a:pPr lvl="1"/>
            <a:r>
              <a:rPr lang="en-US" dirty="0"/>
              <a:t>Easier to maintain</a:t>
            </a:r>
          </a:p>
          <a:p>
            <a:pPr lvl="1"/>
            <a:r>
              <a:rPr lang="en-US" dirty="0"/>
              <a:t>Reusable</a:t>
            </a:r>
          </a:p>
          <a:p>
            <a:pPr lvl="1"/>
            <a:r>
              <a:rPr lang="en-US" dirty="0"/>
              <a:t>…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2E659-F8C4-5B1C-96ED-AA2E86EAB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8858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86BA-5877-CC53-4DEA-AE7B11D69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855FC-A2E8-8DBE-CA4A-68FDAA8A4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course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D6EEC-074C-6F97-56D2-DCA3DB282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write </a:t>
            </a:r>
            <a:r>
              <a:rPr lang="en-US" u="sng" dirty="0"/>
              <a:t>quality</a:t>
            </a:r>
            <a:r>
              <a:rPr lang="en-US" dirty="0"/>
              <a:t> code?</a:t>
            </a:r>
          </a:p>
          <a:p>
            <a:pPr lvl="1"/>
            <a:r>
              <a:rPr lang="en-US" altLang="zh-CN" dirty="0"/>
              <a:t>Usable</a:t>
            </a:r>
            <a:endParaRPr lang="en-US" dirty="0"/>
          </a:p>
          <a:p>
            <a:pPr lvl="1"/>
            <a:r>
              <a:rPr lang="en-US" dirty="0"/>
              <a:t>Less error-prone</a:t>
            </a:r>
          </a:p>
          <a:p>
            <a:pPr lvl="1"/>
            <a:r>
              <a:rPr lang="en-US" dirty="0"/>
              <a:t>Easier to maintain</a:t>
            </a:r>
          </a:p>
          <a:p>
            <a:pPr lvl="1"/>
            <a:r>
              <a:rPr lang="en-US" dirty="0"/>
              <a:t>Reusable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How to </a:t>
            </a:r>
            <a:r>
              <a:rPr lang="en-US" u="sng" dirty="0"/>
              <a:t>manage</a:t>
            </a:r>
            <a:r>
              <a:rPr lang="en-US" dirty="0"/>
              <a:t> a software project effectively?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7987F-894F-663F-291F-2E1A6AE3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895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2373B-C16D-DA25-3264-93A826BFA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E33EA-0C32-D87F-938C-0299354C5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course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BB1B1-A45B-9016-E837-9E2473C61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write </a:t>
            </a:r>
            <a:r>
              <a:rPr lang="en-US" u="sng" dirty="0"/>
              <a:t>quality</a:t>
            </a:r>
            <a:r>
              <a:rPr lang="en-US" dirty="0"/>
              <a:t> code?</a:t>
            </a:r>
          </a:p>
          <a:p>
            <a:pPr lvl="1"/>
            <a:r>
              <a:rPr lang="en-US" altLang="zh-CN" dirty="0"/>
              <a:t>Usable</a:t>
            </a:r>
            <a:endParaRPr lang="en-US" dirty="0"/>
          </a:p>
          <a:p>
            <a:pPr lvl="1"/>
            <a:r>
              <a:rPr lang="en-US" dirty="0"/>
              <a:t>Less error-prone</a:t>
            </a:r>
          </a:p>
          <a:p>
            <a:pPr lvl="1"/>
            <a:r>
              <a:rPr lang="en-US" dirty="0"/>
              <a:t>Easier to maintain</a:t>
            </a:r>
          </a:p>
          <a:p>
            <a:pPr lvl="1"/>
            <a:r>
              <a:rPr lang="en-US" dirty="0"/>
              <a:t>Reusable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How to </a:t>
            </a:r>
            <a:r>
              <a:rPr lang="en-US" u="sng" dirty="0"/>
              <a:t>manage</a:t>
            </a:r>
            <a:r>
              <a:rPr lang="en-US" dirty="0"/>
              <a:t> a software project effectively?</a:t>
            </a:r>
          </a:p>
          <a:p>
            <a:pPr lvl="1"/>
            <a:r>
              <a:rPr lang="en-US" dirty="0"/>
              <a:t>Meet the user requirements</a:t>
            </a:r>
          </a:p>
          <a:p>
            <a:pPr lvl="1"/>
            <a:r>
              <a:rPr lang="en-US" dirty="0"/>
              <a:t>Delivered in a timely manner</a:t>
            </a:r>
          </a:p>
          <a:p>
            <a:pPr lvl="1"/>
            <a:r>
              <a:rPr lang="en-US" dirty="0"/>
              <a:t>…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B5785-52A1-2D23-11E2-85983AA7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27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1038</TotalTime>
  <Words>2339</Words>
  <Application>Microsoft Macintosh PowerPoint</Application>
  <PresentationFormat>Widescreen</PresentationFormat>
  <Paragraphs>325</Paragraphs>
  <Slides>42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Calibri Light</vt:lpstr>
      <vt:lpstr>Wingdings</vt:lpstr>
      <vt:lpstr>Office Theme</vt:lpstr>
      <vt:lpstr>Introduction to Software Engineering</vt:lpstr>
      <vt:lpstr>What is Software Engineering?</vt:lpstr>
      <vt:lpstr>Software vs. Program</vt:lpstr>
      <vt:lpstr>Why Software Engineering?</vt:lpstr>
      <vt:lpstr>Why Software Engineering?</vt:lpstr>
      <vt:lpstr>Why Software Engineering?</vt:lpstr>
      <vt:lpstr>Why Software Engineering?</vt:lpstr>
      <vt:lpstr>Why Software Engineering?</vt:lpstr>
      <vt:lpstr>Why Software Engineering?</vt:lpstr>
      <vt:lpstr>Ariane 5 Flight 501</vt:lpstr>
      <vt:lpstr>Ariane 5 Flight 501</vt:lpstr>
      <vt:lpstr>Famous software failure: Therac-25</vt:lpstr>
      <vt:lpstr>Northeast Blackout of 2003</vt:lpstr>
      <vt:lpstr>Northeast Blackout of 2003</vt:lpstr>
      <vt:lpstr>Northeast Blackout of 2003</vt:lpstr>
      <vt:lpstr>The Challenges</vt:lpstr>
      <vt:lpstr>Core Principles to Tame Complexity</vt:lpstr>
      <vt:lpstr>Software Engineering in the Real World</vt:lpstr>
      <vt:lpstr>Main Topics</vt:lpstr>
      <vt:lpstr>Main Topics</vt:lpstr>
      <vt:lpstr>Miscellaneous Topics</vt:lpstr>
      <vt:lpstr>Acknowledgements</vt:lpstr>
      <vt:lpstr>Course logistics</vt:lpstr>
      <vt:lpstr>Semester-Long Project – Gomoku Game</vt:lpstr>
      <vt:lpstr>Gomoku Game Demo</vt:lpstr>
      <vt:lpstr>Project Goal</vt:lpstr>
      <vt:lpstr>Or You Own Project</vt:lpstr>
      <vt:lpstr>A Brief History of Software Engineering</vt:lpstr>
      <vt:lpstr>A Brief History of Software Engineering</vt:lpstr>
      <vt:lpstr>No Silver Bullet</vt:lpstr>
      <vt:lpstr>No Silver Bullet</vt:lpstr>
      <vt:lpstr>Why? Essence and Accidents</vt:lpstr>
      <vt:lpstr>The Four Essential Difficulties</vt:lpstr>
      <vt:lpstr>Past Solutions (The "Accidental" Gains)</vt:lpstr>
      <vt:lpstr>New Hopes</vt:lpstr>
      <vt:lpstr>Brooks's Core Recommendations</vt:lpstr>
      <vt:lpstr>Backup slides</vt:lpstr>
      <vt:lpstr>Final Thought</vt:lpstr>
      <vt:lpstr>Main course topics</vt:lpstr>
      <vt:lpstr>Main course topics</vt:lpstr>
      <vt:lpstr>Main course topics</vt:lpstr>
      <vt:lpstr>Main course topics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Tong Zhou</dc:creator>
  <cp:lastModifiedBy>Tong Zhou</cp:lastModifiedBy>
  <cp:revision>105</cp:revision>
  <dcterms:created xsi:type="dcterms:W3CDTF">2025-08-05T05:41:53Z</dcterms:created>
  <dcterms:modified xsi:type="dcterms:W3CDTF">2025-08-10T02:16:05Z</dcterms:modified>
</cp:coreProperties>
</file>