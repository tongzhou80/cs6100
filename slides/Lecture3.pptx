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3" r:id="rId3"/>
    <p:sldId id="301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2" r:id="rId12"/>
    <p:sldId id="303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16"/>
    <p:restoredTop sz="91892"/>
  </p:normalViewPr>
  <p:slideViewPr>
    <p:cSldViewPr snapToGrid="0">
      <p:cViewPr varScale="1">
        <p:scale>
          <a:sx n="131" d="100"/>
          <a:sy n="131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D854A-D757-5C4C-A465-3201C554EB8D}" type="datetimeFigureOut">
              <a:rPr lang="en-US" smtClean="0"/>
              <a:t>8/20/25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DB674-9C07-4F43-9CB5-21BC01324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2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EF28A0-75AA-732C-496C-CEAD29488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705AB2-73E4-9718-527D-17267167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3D48441-2C3F-BD25-9F7F-2A7634FB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276487-8B75-2F43-9355-4B467BD57A6C}" type="datetime1">
              <a:rPr lang="en-US" smtClean="0"/>
              <a:t>8/20/25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7E3B859-B9D9-912A-B230-23810222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1D365-5A25-E66D-ABED-A7D18A2C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8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776C-9515-2481-8B81-687776F0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6A0C-0355-3D06-1759-778857070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20B47-E8B8-5702-1C01-68F8723A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8F5D7A-DAAE-D246-A661-ED1AD3964955}" type="datetime1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92D50-3380-02C7-AEFE-F0BC90F1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D026-5B15-2277-DB80-485E63ED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1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F852-C41E-175D-56D6-33A03E8B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38482-CFA2-62B5-B8EB-BBC3E4EAF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CB99-20D2-B6C1-9EDC-635D680A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1806B9-6C4B-3B45-9110-CA58C108BE01}" type="datetime1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A2888-2503-1FDC-F664-DEE807B7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854B3-F213-4765-F345-76E42D93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4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1A05-54B8-7E29-77B4-2D4D3E05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40CF6-62D6-BE4F-5F1E-3EC574369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161BC-33E7-8CA5-1312-A2BFA63C3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7BE4C-1F80-EAE2-1AFD-BB06EEC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5C6FEA-FDE7-B240-BEAF-6A3F6212E36E}" type="datetime1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31F1C-CDC4-F1D8-876C-5F98389C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8A4B9-F63B-7C06-90D6-8634A26C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7F9B-3701-6710-2389-36AC20E4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CB0B-873B-50E9-5AC8-22CA7875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45A94-B45A-35EA-2614-2D4296A08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9E794-5D03-A43B-6AA9-5AD8C6500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8EAAB-599B-EC7B-5784-CDBCF5DA9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CD028-8BC9-0A02-9AFA-A424BDCA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5F5DD0-F679-3747-91F3-9DC9C3F86CB6}" type="datetime1">
              <a:rPr lang="en-US" smtClean="0"/>
              <a:t>8/20/25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3C9A0-BB3F-D1B8-F222-2442F52D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ADC62-3F93-4461-BABD-0FD0A471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8875-1E47-8116-8FF7-7BC4A29A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B6199-0A35-BE42-C731-28B8FE48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DA3FF8-7A34-ED49-AA5D-BC76DF58E74E}" type="datetime1">
              <a:rPr lang="en-US" smtClean="0"/>
              <a:t>8/20/25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8E580-A669-EB85-47DB-D3AEE4675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F84C7-A90A-3906-5514-E0847AAE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4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1B613-2CCE-6122-DE23-62F328D9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2A1C80-5B2D-564F-B8C6-B0B5B92F5809}" type="datetime1">
              <a:rPr lang="en-US" smtClean="0"/>
              <a:t>8/20/25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8C4DD-7CA7-DD9C-5BD0-EA324B96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655BB-96E0-F847-F0B4-287D7459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69A-A7F1-A15B-CCF1-17A9B1DF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284E-E8DD-25FB-2A5E-6708FBF6E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D4023-DA97-5B6E-422B-DDC647AE6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8B7CD-5E0E-8F78-E3F1-47A1D71D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F75D97-7D6D-EC47-8250-30DF936063AD}" type="datetime1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D2508-7DF0-5968-F780-59D08252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2F17-2087-A0CA-2885-3181C3A5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6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FD2D-D8D6-BDB5-1038-2D9B176F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62F1D-3B6F-2054-01B3-AC4538AE0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02A9A-9291-057A-80A7-F2F753F97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4D46C-E6AA-FE6B-DE41-778ED989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E89D4A-5528-5F41-9AF6-6B3105C8A7C3}" type="datetime1">
              <a:rPr lang="en-US" smtClean="0"/>
              <a:t>8/20/25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02E3-E3B3-328B-521E-F5F07173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08106-D1AB-C8C1-3FE0-F21DFDFF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64AE-8755-7F7B-C68D-561A352C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29152-293C-5336-1744-E573C5263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8957-3D61-7182-44B1-C3791CC4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B10427-957C-524C-8454-F629CBA9C9BE}" type="datetime1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2979-2EAB-0B3F-DB47-A979C8D1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E9273-E3ED-F625-CE3A-B35AAD1A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0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0C05D-BFD7-54A9-F048-426696287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635B8-BEF6-D4D6-B7E3-9F82C3086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91B31-6AE8-5C57-0F05-9DF22FED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97C5AB-4FB5-3149-A6CF-D0F885A81EBA}" type="datetime1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A3110-252A-0FCD-089D-505AA96D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9920-10B2-1B50-A547-C1E7569F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9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F15A6-0B1F-720E-CEE1-BF5A27B0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39F7-266E-4548-B78D-57FF73902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66D50-6D55-2838-D530-BF1F4F812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4417-86B7-E841-9AA9-C4BE48872EF5}" type="datetime1">
              <a:rPr lang="en-US" smtClean="0"/>
              <a:t>8/20/25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BFEB4-F926-BA5A-5FB0-25E386DDB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A711-8872-184C-30EC-436A45C34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30462-0FD5-604F-8C98-DCC91BE8458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48AEA-54E9-5154-4D70-373F1088C0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82200" y="145469"/>
            <a:ext cx="2066636" cy="55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4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piral.co.nz/2015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kenscourses.com/tc101fall2016/syndicated/classes-to-code-3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EF63-B7CB-2CD1-A1C3-1EB238A31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Software Modeling</a:t>
            </a:r>
            <a:endParaRPr lang="en-US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77C89-3733-9C2A-A31F-60CAE4BBF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4982"/>
            <a:ext cx="9144000" cy="1655762"/>
          </a:xfrm>
        </p:spPr>
        <p:txBody>
          <a:bodyPr/>
          <a:lstStyle/>
          <a:p>
            <a:r>
              <a:rPr lang="en-US" dirty="0"/>
              <a:t>CS 6100 — Fall 2025</a:t>
            </a:r>
          </a:p>
          <a:p>
            <a:r>
              <a:rPr lang="en-US" dirty="0"/>
              <a:t>Tong Zhou</a:t>
            </a:r>
          </a:p>
          <a:p>
            <a:r>
              <a:rPr lang="en-US" dirty="0"/>
              <a:t>tzhou44@fordham.edu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8300D-2CF8-D7CA-2A10-6C95ED402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24000" y="3690860"/>
            <a:ext cx="1986351" cy="1474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F6D49C-E62F-841E-4BAC-588ADB90B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786452" y="3509963"/>
            <a:ext cx="1881548" cy="16557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2A9BF-6BCF-B8C8-3361-DC2B4021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DD1D-ADF9-9B31-EF1E-06269898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Gomoku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21A7D-458B-311A-97B6-A7CBBC86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D77B0-76E1-E4F4-06D2-02CE6100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93" y="1798561"/>
            <a:ext cx="6188413" cy="444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4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2566-B836-6B57-0C79-3DF30F5D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1ED5-3D50-2FD9-6464-6CC5BC4E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Gomoku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28770-42B7-C31D-9929-B6D7B9BE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1CE6D-6EFD-E7AE-74DD-3D47898A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836" y="2001589"/>
            <a:ext cx="6334328" cy="409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9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684A-45E6-5977-0DBC-4F5BFF5E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our rapid iterations with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2FD39-9E95-C2A9-DFD3-14449E35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should the view be like?</a:t>
            </a:r>
          </a:p>
          <a:p>
            <a:pPr lvl="1"/>
            <a:r>
              <a:rPr lang="en-US" dirty="0"/>
              <a:t>I have some idea, but am not sure exactly</a:t>
            </a:r>
          </a:p>
          <a:p>
            <a:endParaRPr lang="en-US" dirty="0"/>
          </a:p>
          <a:p>
            <a:r>
              <a:rPr lang="en-US" dirty="0"/>
              <a:t>Let’s build a quick iteration and get customer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7A75-4CD8-1868-94F7-92339CD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9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76D8-97DB-33C4-F7AF-70DE3515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Scenario #1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11DA1-A4E5-8354-5F4C-237CDD4E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2DBC6-5390-2F52-FF28-2C82E5D2EA48}"/>
              </a:ext>
            </a:extLst>
          </p:cNvPr>
          <p:cNvSpPr txBox="1"/>
          <p:nvPr/>
        </p:nvSpPr>
        <p:spPr>
          <a:xfrm>
            <a:off x="1023256" y="3577987"/>
            <a:ext cx="17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playing …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D63772-D0C7-9F9E-7737-56C5F20D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37" y="1449868"/>
            <a:ext cx="4826125" cy="514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4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3EC5-AD3F-7342-C6CC-4CEFA46C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Scenario #2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A458E-AFE9-D4D4-D735-9B2E12F6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23720-4A67-BE2F-E139-830D421EE08B}"/>
              </a:ext>
            </a:extLst>
          </p:cNvPr>
          <p:cNvSpPr txBox="1"/>
          <p:nvPr/>
        </p:nvSpPr>
        <p:spPr>
          <a:xfrm>
            <a:off x="435054" y="3525514"/>
            <a:ext cx="3028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joined, but another player</a:t>
            </a:r>
          </a:p>
          <a:p>
            <a:r>
              <a:rPr lang="en-US" dirty="0"/>
              <a:t>has not joined yet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FAAAE-ECE9-47C2-4082-B09187A5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069" y="1469949"/>
            <a:ext cx="4919862" cy="523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6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4CCC-9252-B8E1-1A56-C82A137E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Scenario #3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2BC9-2D89-4B4C-F72E-9247ED60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915C5-EC01-160E-DB6F-7F522969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083" y="1463674"/>
            <a:ext cx="4627834" cy="5257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3F38A7-FDFB-9C19-E9EB-EFE9F4B0F80D}"/>
              </a:ext>
            </a:extLst>
          </p:cNvPr>
          <p:cNvSpPr txBox="1"/>
          <p:nvPr/>
        </p:nvSpPr>
        <p:spPr>
          <a:xfrm>
            <a:off x="740229" y="3570515"/>
            <a:ext cx="273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of the players has won</a:t>
            </a:r>
          </a:p>
        </p:txBody>
      </p:sp>
    </p:spTree>
    <p:extLst>
      <p:ext uri="{BB962C8B-B14F-4D97-AF65-F5344CB8AC3E}">
        <p14:creationId xmlns:p14="http://schemas.microsoft.com/office/powerpoint/2010/main" val="180650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920D-8C30-3B74-617D-7B97F488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39B1-3E47-6CFA-D91F-DAF8148A7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a draw at the end of the game</a:t>
            </a:r>
          </a:p>
          <a:p>
            <a:r>
              <a:rPr lang="en-US" dirty="0"/>
              <a:t>You or your opponent gets disconnected</a:t>
            </a:r>
          </a:p>
          <a:p>
            <a:endParaRPr lang="en-US" dirty="0"/>
          </a:p>
          <a:p>
            <a:r>
              <a:rPr lang="en-US" dirty="0"/>
              <a:t>Any other scenarios?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04360-CD0E-8FD1-91B7-2428F0E8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4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B76B-DB13-5BB7-EF17-38A01736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DED22-30E0-1B21-C4DA-359BEFB1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Customer: </a:t>
            </a:r>
            <a:r>
              <a:rPr lang="en-US" i="1" dirty="0"/>
              <a:t>in general this looks good! I was thinking that maybe there could be two additional buttons above the board, called “restart” and “undo”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C761C-EECC-D958-16BF-E9DA131B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7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A3A4-A25E-3D61-80B5-B004105C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Finalized view spec based on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A60C-038B-6832-3765-89BD7D6C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divs</a:t>
            </a:r>
            <a:r>
              <a:rPr lang="en-US" dirty="0"/>
              <a:t> vertically stacked, and horizontally centered</a:t>
            </a:r>
          </a:p>
          <a:p>
            <a:pPr lvl="1"/>
            <a:endParaRPr lang="en-US" dirty="0"/>
          </a:p>
          <a:p>
            <a:r>
              <a:rPr lang="en-US" dirty="0"/>
              <a:t>From top to bottom, they are</a:t>
            </a:r>
          </a:p>
          <a:p>
            <a:pPr lvl="1"/>
            <a:r>
              <a:rPr lang="en-US" dirty="0"/>
              <a:t>“restart” and “undo” button menu</a:t>
            </a:r>
          </a:p>
          <a:p>
            <a:pPr lvl="1"/>
            <a:r>
              <a:rPr lang="en-US" dirty="0"/>
              <a:t>Board</a:t>
            </a:r>
          </a:p>
          <a:p>
            <a:pPr lvl="1"/>
            <a:r>
              <a:rPr lang="en-US" dirty="0"/>
              <a:t>Game status (started or ended or in progress)</a:t>
            </a:r>
          </a:p>
          <a:p>
            <a:pPr lvl="1"/>
            <a:r>
              <a:rPr lang="en-US" dirty="0"/>
              <a:t>Player status (whether one of the players has disconnected)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5D38-42D4-B967-7E64-FE0A235D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6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BD5A-96A3-8FD0-E765-7A91862B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B354-8C11-EEA7-C53C-20A2C3A3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Gomoku</a:t>
            </a:r>
            <a:r>
              <a:rPr lang="zh-CN" altLang="en-US" dirty="0"/>
              <a:t> </a:t>
            </a:r>
            <a:r>
              <a:rPr lang="en-US" altLang="zh-CN" dirty="0"/>
              <a:t>architecture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CB32-1C86-C5C9-9A41-4F893C8B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BA3F86-C5E0-D85B-E2F7-1DFB95B96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568" y="1788710"/>
            <a:ext cx="6100864" cy="446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17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0577-539D-089A-9C49-702B1C8F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internal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83E5-8774-4FE0-1624-32B79CD5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4916F-F150-F82B-C93D-8DBF7DF3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8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A51AD-DAB4-490B-61FD-4BAD3146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DFB485-CA81-6F97-AF3C-DED24057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73" y="0"/>
            <a:ext cx="7593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1194-7990-4F73-14FB-D00C5019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know if my code is 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AAF0-5587-6F0B-5D3F-9913B616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divide-and-conquer approach</a:t>
            </a:r>
          </a:p>
          <a:p>
            <a:r>
              <a:rPr lang="en-US" dirty="0"/>
              <a:t>Check if top-level structure is correct</a:t>
            </a:r>
          </a:p>
          <a:p>
            <a:r>
              <a:rPr lang="en-US" dirty="0"/>
              <a:t>Then zoom into each module, repeat the process recursively until encountering leaf nodes</a:t>
            </a:r>
          </a:p>
          <a:p>
            <a:r>
              <a:rPr lang="en-US" dirty="0"/>
              <a:t>Leaf nodes are small pieces of code – can easily verify correctness by eyeballing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the structure is correct, and each module is also correct, the whole system should be correct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D9825-986B-5052-21E4-D87C3BE0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6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83C8-C9A0-D83C-05FD-A076AD9B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DFB5-4990-2A42-F88C-E1CA4DF81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A36EE-F0B7-2DFE-9C61-BB625B82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A874-B4D6-D6CE-CBC2-3FAC8C2A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from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F98D-87FF-1DD4-2B3A-EC60A6E14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</a:t>
            </a:r>
          </a:p>
          <a:p>
            <a:endParaRPr lang="en-US" dirty="0"/>
          </a:p>
          <a:p>
            <a:r>
              <a:rPr lang="en-US" dirty="0"/>
              <a:t>Show board</a:t>
            </a:r>
          </a:p>
          <a:p>
            <a:r>
              <a:rPr lang="en-US" dirty="0"/>
              <a:t>Show game status</a:t>
            </a:r>
          </a:p>
          <a:p>
            <a:pPr lvl="1"/>
            <a:r>
              <a:rPr lang="en-US" dirty="0"/>
              <a:t>Not started yet (no other players)</a:t>
            </a:r>
          </a:p>
          <a:p>
            <a:pPr lvl="1"/>
            <a:r>
              <a:rPr lang="en-US" dirty="0"/>
              <a:t>Started, show whose turn</a:t>
            </a:r>
          </a:p>
          <a:p>
            <a:pPr lvl="1"/>
            <a:r>
              <a:rPr lang="en-US" dirty="0"/>
              <a:t>Ended (win or a draw)</a:t>
            </a:r>
          </a:p>
          <a:p>
            <a:pPr lvl="1"/>
            <a:r>
              <a:rPr lang="en-US" dirty="0"/>
              <a:t>One player disconnected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0BA6A-AA7A-ADE1-BD84-81DE3254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30462-0FD5-604F-8C98-DCC91BE845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5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2690</TotalTime>
  <Words>311</Words>
  <Application>Microsoft Macintosh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Software Modeling</vt:lpstr>
      <vt:lpstr>Gomoku architecture design</vt:lpstr>
      <vt:lpstr>Gomoku architecture design</vt:lpstr>
      <vt:lpstr>Start our rapid iterations with View</vt:lpstr>
      <vt:lpstr>Possible Scenario #1</vt:lpstr>
      <vt:lpstr>Possible Scenario #2</vt:lpstr>
      <vt:lpstr>Possible Scenario #3</vt:lpstr>
      <vt:lpstr>Other Scenarios</vt:lpstr>
      <vt:lpstr>Customer feedback</vt:lpstr>
      <vt:lpstr>Finalized view spec based on feedback</vt:lpstr>
      <vt:lpstr>Gomoku architecture design</vt:lpstr>
      <vt:lpstr>Control internal flow</vt:lpstr>
      <vt:lpstr>PowerPoint Presentation</vt:lpstr>
      <vt:lpstr>How do I know if my code is correct?</vt:lpstr>
      <vt:lpstr>graphs</vt:lpstr>
      <vt:lpstr>Start from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Zhou</dc:creator>
  <cp:lastModifiedBy>Tong Zhou</cp:lastModifiedBy>
  <cp:revision>132</cp:revision>
  <dcterms:created xsi:type="dcterms:W3CDTF">2025-08-05T05:41:53Z</dcterms:created>
  <dcterms:modified xsi:type="dcterms:W3CDTF">2025-08-20T16:51:38Z</dcterms:modified>
</cp:coreProperties>
</file>